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Heading Now 71-78 Bold" charset="1" panose="00000000000000000000"/>
      <p:regular r:id="rId24"/>
    </p:embeddedFont>
    <p:embeddedFont>
      <p:font typeface="Body Text" charset="1" panose="02000503040000020004"/>
      <p:regular r:id="rId25"/>
    </p:embeddedFont>
    <p:embeddedFont>
      <p:font typeface="Body Text Bold" charset="1" panose="02000503040000020004"/>
      <p:regular r:id="rId26"/>
    </p:embeddedFont>
    <p:embeddedFont>
      <p:font typeface="Body Text Bold Italics" charset="1" panose="000007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18.pn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grpSp>
        <p:nvGrpSpPr>
          <p:cNvPr name="Group 2" id="2"/>
          <p:cNvGrpSpPr/>
          <p:nvPr/>
        </p:nvGrpSpPr>
        <p:grpSpPr>
          <a:xfrm rot="0">
            <a:off x="6460460" y="-2236932"/>
            <a:ext cx="14697947" cy="1469794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E5C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8604946" y="2626670"/>
            <a:ext cx="9432014" cy="3732505"/>
          </a:xfrm>
          <a:prstGeom prst="rect">
            <a:avLst/>
          </a:prstGeom>
        </p:spPr>
        <p:txBody>
          <a:bodyPr anchor="t" rtlCol="false" tIns="0" lIns="0" bIns="0" rIns="0">
            <a:spAutoFit/>
          </a:bodyPr>
          <a:lstStyle/>
          <a:p>
            <a:pPr algn="ctr">
              <a:lnSpc>
                <a:spcPts val="26725"/>
              </a:lnSpc>
            </a:pPr>
            <a:r>
              <a:rPr lang="en-US" b="true" sz="19089">
                <a:solidFill>
                  <a:srgbClr val="E63F02"/>
                </a:solidFill>
                <a:latin typeface="Heading Now 71-78 Bold"/>
                <a:ea typeface="Heading Now 71-78 Bold"/>
                <a:cs typeface="Heading Now 71-78 Bold"/>
                <a:sym typeface="Heading Now 71-78 Bold"/>
              </a:rPr>
              <a:t>PIZZA</a:t>
            </a:r>
          </a:p>
        </p:txBody>
      </p:sp>
      <p:sp>
        <p:nvSpPr>
          <p:cNvPr name="Freeform 6" id="6"/>
          <p:cNvSpPr/>
          <p:nvPr/>
        </p:nvSpPr>
        <p:spPr>
          <a:xfrm flipH="false" flipV="false" rot="0">
            <a:off x="-2924955" y="3455345"/>
            <a:ext cx="11886176" cy="7547722"/>
          </a:xfrm>
          <a:custGeom>
            <a:avLst/>
            <a:gdLst/>
            <a:ahLst/>
            <a:cxnLst/>
            <a:rect r="r" b="b" t="t" l="l"/>
            <a:pathLst>
              <a:path h="7547722" w="11886176">
                <a:moveTo>
                  <a:pt x="0" y="0"/>
                </a:moveTo>
                <a:lnTo>
                  <a:pt x="11886176" y="0"/>
                </a:lnTo>
                <a:lnTo>
                  <a:pt x="11886176" y="7547722"/>
                </a:lnTo>
                <a:lnTo>
                  <a:pt x="0" y="7547722"/>
                </a:lnTo>
                <a:lnTo>
                  <a:pt x="0" y="0"/>
                </a:lnTo>
                <a:close/>
              </a:path>
            </a:pathLst>
          </a:custGeom>
          <a:blipFill>
            <a:blip r:embed="rId2"/>
            <a:stretch>
              <a:fillRect l="0" t="0" r="0" b="0"/>
            </a:stretch>
          </a:blipFill>
        </p:spPr>
      </p:sp>
      <p:sp>
        <p:nvSpPr>
          <p:cNvPr name="TextBox 7" id="7"/>
          <p:cNvSpPr txBox="true"/>
          <p:nvPr/>
        </p:nvSpPr>
        <p:spPr>
          <a:xfrm rot="0">
            <a:off x="15725534" y="6263925"/>
            <a:ext cx="2311426" cy="872750"/>
          </a:xfrm>
          <a:prstGeom prst="rect">
            <a:avLst/>
          </a:prstGeom>
        </p:spPr>
        <p:txBody>
          <a:bodyPr anchor="t" rtlCol="false" tIns="0" lIns="0" bIns="0" rIns="0">
            <a:spAutoFit/>
          </a:bodyPr>
          <a:lstStyle/>
          <a:p>
            <a:pPr algn="ctr">
              <a:lnSpc>
                <a:spcPts val="7187"/>
              </a:lnSpc>
            </a:pPr>
            <a:r>
              <a:rPr lang="en-US" sz="5134">
                <a:solidFill>
                  <a:srgbClr val="E63F02"/>
                </a:solidFill>
                <a:latin typeface="Body Text"/>
                <a:ea typeface="Body Text"/>
                <a:cs typeface="Body Text"/>
                <a:sym typeface="Body Text"/>
              </a:rPr>
              <a:t>Sales</a:t>
            </a:r>
          </a:p>
        </p:txBody>
      </p:sp>
      <p:sp>
        <p:nvSpPr>
          <p:cNvPr name="TextBox 8" id="8"/>
          <p:cNvSpPr txBox="true"/>
          <p:nvPr/>
        </p:nvSpPr>
        <p:spPr>
          <a:xfrm rot="0">
            <a:off x="8961221" y="2801741"/>
            <a:ext cx="2483683" cy="854075"/>
          </a:xfrm>
          <a:prstGeom prst="rect">
            <a:avLst/>
          </a:prstGeom>
        </p:spPr>
        <p:txBody>
          <a:bodyPr anchor="t" rtlCol="false" tIns="0" lIns="0" bIns="0" rIns="0">
            <a:spAutoFit/>
          </a:bodyPr>
          <a:lstStyle/>
          <a:p>
            <a:pPr algn="r">
              <a:lnSpc>
                <a:spcPts val="7000"/>
              </a:lnSpc>
            </a:pPr>
            <a:r>
              <a:rPr lang="en-US" sz="5000" spc="-225">
                <a:solidFill>
                  <a:srgbClr val="E63F02"/>
                </a:solidFill>
                <a:latin typeface="Body Text"/>
                <a:ea typeface="Body Text"/>
                <a:cs typeface="Body Text"/>
                <a:sym typeface="Body Text"/>
              </a:rPr>
              <a:t>Analytics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grpSp>
        <p:nvGrpSpPr>
          <p:cNvPr name="Group 2" id="2"/>
          <p:cNvGrpSpPr/>
          <p:nvPr/>
        </p:nvGrpSpPr>
        <p:grpSpPr>
          <a:xfrm rot="0">
            <a:off x="-645386" y="-4158272"/>
            <a:ext cx="18603544" cy="1860354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E5C5"/>
            </a:solidFill>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1143000"/>
            <a:ext cx="5048178" cy="1325246"/>
          </a:xfrm>
          <a:prstGeom prst="rect">
            <a:avLst/>
          </a:prstGeom>
        </p:spPr>
        <p:txBody>
          <a:bodyPr anchor="t" rtlCol="false" tIns="0" lIns="0" bIns="0" rIns="0">
            <a:spAutoFit/>
          </a:bodyPr>
          <a:lstStyle/>
          <a:p>
            <a:pPr algn="l">
              <a:lnSpc>
                <a:spcPts val="7790"/>
              </a:lnSpc>
            </a:pPr>
            <a:r>
              <a:rPr lang="en-US" b="true" sz="9500">
                <a:solidFill>
                  <a:srgbClr val="E63F02"/>
                </a:solidFill>
                <a:latin typeface="Heading Now 71-78 Bold"/>
                <a:ea typeface="Heading Now 71-78 Bold"/>
                <a:cs typeface="Heading Now 71-78 Bold"/>
                <a:sym typeface="Heading Now 71-78 Bold"/>
              </a:rPr>
              <a:t>HELLO!</a:t>
            </a:r>
          </a:p>
        </p:txBody>
      </p:sp>
      <p:sp>
        <p:nvSpPr>
          <p:cNvPr name="Freeform 6" id="6"/>
          <p:cNvSpPr/>
          <p:nvPr/>
        </p:nvSpPr>
        <p:spPr>
          <a:xfrm flipH="false" flipV="false" rot="4689769">
            <a:off x="7797544" y="1800581"/>
            <a:ext cx="15405396" cy="15433457"/>
          </a:xfrm>
          <a:custGeom>
            <a:avLst/>
            <a:gdLst/>
            <a:ahLst/>
            <a:cxnLst/>
            <a:rect r="r" b="b" t="t" l="l"/>
            <a:pathLst>
              <a:path h="15433457" w="15405396">
                <a:moveTo>
                  <a:pt x="0" y="0"/>
                </a:moveTo>
                <a:lnTo>
                  <a:pt x="15405396" y="0"/>
                </a:lnTo>
                <a:lnTo>
                  <a:pt x="15405396" y="15433457"/>
                </a:lnTo>
                <a:lnTo>
                  <a:pt x="0" y="15433457"/>
                </a:lnTo>
                <a:lnTo>
                  <a:pt x="0" y="0"/>
                </a:lnTo>
                <a:close/>
              </a:path>
            </a:pathLst>
          </a:custGeom>
          <a:blipFill>
            <a:blip r:embed="rId2"/>
            <a:stretch>
              <a:fillRect l="0" t="0" r="0" b="0"/>
            </a:stretch>
          </a:blipFill>
        </p:spPr>
      </p:sp>
      <p:sp>
        <p:nvSpPr>
          <p:cNvPr name="TextBox 7" id="7"/>
          <p:cNvSpPr txBox="true"/>
          <p:nvPr/>
        </p:nvSpPr>
        <p:spPr>
          <a:xfrm rot="0">
            <a:off x="0" y="2690357"/>
            <a:ext cx="9249695" cy="2246942"/>
          </a:xfrm>
          <a:prstGeom prst="rect">
            <a:avLst/>
          </a:prstGeom>
        </p:spPr>
        <p:txBody>
          <a:bodyPr anchor="t" rtlCol="false" tIns="0" lIns="0" bIns="0" rIns="0">
            <a:spAutoFit/>
          </a:bodyPr>
          <a:lstStyle/>
          <a:p>
            <a:pPr algn="ctr">
              <a:lnSpc>
                <a:spcPts val="3598"/>
              </a:lnSpc>
              <a:spcBef>
                <a:spcPct val="0"/>
              </a:spcBef>
            </a:pPr>
            <a:r>
              <a:rPr lang="en-US" b="true" sz="2570" spc="-115">
                <a:solidFill>
                  <a:srgbClr val="000000"/>
                </a:solidFill>
                <a:latin typeface="Body Text Bold"/>
                <a:ea typeface="Body Text Bold"/>
                <a:cs typeface="Body Text Bold"/>
                <a:sym typeface="Body Text Bold"/>
              </a:rPr>
              <a:t>Hello, I am Krishna. In this pr</a:t>
            </a:r>
            <a:r>
              <a:rPr lang="en-US" b="true" sz="2570" spc="-115">
                <a:solidFill>
                  <a:srgbClr val="000000"/>
                </a:solidFill>
                <a:latin typeface="Body Text Bold"/>
                <a:ea typeface="Body Text Bold"/>
                <a:cs typeface="Body Text Bold"/>
                <a:sym typeface="Body Text Bold"/>
              </a:rPr>
              <a:t>oject, I used SQL to clean and analyze raw pizza sales data to discover key business trends like top-selling pizzas, popular sizes, and busy order hours. I then used Power BI to turn these findings into a clear visual dashboard that makes the data easy to understand and act 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5394418" y="399520"/>
            <a:ext cx="12893582" cy="9115130"/>
          </a:xfrm>
          <a:custGeom>
            <a:avLst/>
            <a:gdLst/>
            <a:ahLst/>
            <a:cxnLst/>
            <a:rect r="r" b="b" t="t" l="l"/>
            <a:pathLst>
              <a:path h="9115130" w="12893582">
                <a:moveTo>
                  <a:pt x="0" y="0"/>
                </a:moveTo>
                <a:lnTo>
                  <a:pt x="12893582" y="0"/>
                </a:lnTo>
                <a:lnTo>
                  <a:pt x="12893582" y="9115130"/>
                </a:lnTo>
                <a:lnTo>
                  <a:pt x="0" y="9115130"/>
                </a:lnTo>
                <a:lnTo>
                  <a:pt x="0" y="0"/>
                </a:lnTo>
                <a:close/>
              </a:path>
            </a:pathLst>
          </a:custGeom>
          <a:blipFill>
            <a:blip r:embed="rId2"/>
            <a:stretch>
              <a:fillRect l="-5702" t="0" r="-4309" b="-2144"/>
            </a:stretch>
          </a:blipFill>
        </p:spPr>
      </p:sp>
      <p:sp>
        <p:nvSpPr>
          <p:cNvPr name="Freeform 3" id="3"/>
          <p:cNvSpPr/>
          <p:nvPr/>
        </p:nvSpPr>
        <p:spPr>
          <a:xfrm flipH="false" flipV="false" rot="0">
            <a:off x="263815" y="5886127"/>
            <a:ext cx="5423604" cy="4184814"/>
          </a:xfrm>
          <a:custGeom>
            <a:avLst/>
            <a:gdLst/>
            <a:ahLst/>
            <a:cxnLst/>
            <a:rect r="r" b="b" t="t" l="l"/>
            <a:pathLst>
              <a:path h="4184814" w="5423604">
                <a:moveTo>
                  <a:pt x="0" y="0"/>
                </a:moveTo>
                <a:lnTo>
                  <a:pt x="5423604" y="0"/>
                </a:lnTo>
                <a:lnTo>
                  <a:pt x="5423604" y="4184814"/>
                </a:lnTo>
                <a:lnTo>
                  <a:pt x="0" y="4184814"/>
                </a:lnTo>
                <a:lnTo>
                  <a:pt x="0" y="0"/>
                </a:lnTo>
                <a:close/>
              </a:path>
            </a:pathLst>
          </a:custGeom>
          <a:blipFill>
            <a:blip r:embed="rId3"/>
            <a:stretch>
              <a:fillRect l="0" t="-2182" r="0" b="-29280"/>
            </a:stretch>
          </a:blipFill>
        </p:spPr>
      </p:sp>
      <p:sp>
        <p:nvSpPr>
          <p:cNvPr name="TextBox 4" id="4"/>
          <p:cNvSpPr txBox="true"/>
          <p:nvPr/>
        </p:nvSpPr>
        <p:spPr>
          <a:xfrm rot="0">
            <a:off x="478168" y="361420"/>
            <a:ext cx="4258339" cy="396240"/>
          </a:xfrm>
          <a:prstGeom prst="rect">
            <a:avLst/>
          </a:prstGeom>
        </p:spPr>
        <p:txBody>
          <a:bodyPr anchor="t" rtlCol="false" tIns="0" lIns="0" bIns="0" rIns="0">
            <a:spAutoFit/>
          </a:bodyPr>
          <a:lstStyle/>
          <a:p>
            <a:pPr algn="l">
              <a:lnSpc>
                <a:spcPts val="3359"/>
              </a:lnSpc>
            </a:pPr>
            <a:r>
              <a:rPr lang="en-US" sz="2400" spc="-108" b="true">
                <a:solidFill>
                  <a:srgbClr val="E63F02"/>
                </a:solidFill>
                <a:latin typeface="Body Text Bold"/>
                <a:ea typeface="Body Text Bold"/>
                <a:cs typeface="Body Text Bold"/>
                <a:sym typeface="Body Text Bold"/>
              </a:rPr>
              <a:t>Data Model &amp; Schema Overview</a:t>
            </a:r>
          </a:p>
        </p:txBody>
      </p:sp>
      <p:sp>
        <p:nvSpPr>
          <p:cNvPr name="TextBox 5" id="5"/>
          <p:cNvSpPr txBox="true"/>
          <p:nvPr/>
        </p:nvSpPr>
        <p:spPr>
          <a:xfrm rot="0">
            <a:off x="478168" y="1154099"/>
            <a:ext cx="4743226" cy="4930775"/>
          </a:xfrm>
          <a:prstGeom prst="rect">
            <a:avLst/>
          </a:prstGeom>
        </p:spPr>
        <p:txBody>
          <a:bodyPr anchor="t" rtlCol="false" tIns="0" lIns="0" bIns="0" rIns="0">
            <a:spAutoFit/>
          </a:bodyPr>
          <a:lstStyle/>
          <a:p>
            <a:pPr algn="just">
              <a:lnSpc>
                <a:spcPts val="2800"/>
              </a:lnSpc>
            </a:pPr>
            <a:r>
              <a:rPr lang="en-US" b="true" sz="2000" i="true" spc="-90">
                <a:solidFill>
                  <a:srgbClr val="E63F02"/>
                </a:solidFill>
                <a:latin typeface="Body Text Bold Italics"/>
                <a:ea typeface="Body Text Bold Italics"/>
                <a:cs typeface="Body Text Bold Italics"/>
                <a:sym typeface="Body Text Bold Italics"/>
              </a:rPr>
              <a:t>The Project runs on a star-style data model of four tables. The central fact table, order_details, holds each order line with its quantity and all the DAX measures (Total Revenue, Total Orders, Total Pizzas Sold, Average Order Value). It connects through one-to-many relationships to orders (date, time, day and month), pizzas (size and price), and pizza_types (name, category and ingredients, linked via pizzas). Because of these relationships, any slicer filters every KPI and chart on the page, keeping totals accurate and letting users analyze sales by month, hour, size and category.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0">
            <a:off x="1348634" y="3221586"/>
            <a:ext cx="9644982" cy="2365254"/>
          </a:xfrm>
          <a:custGeom>
            <a:avLst/>
            <a:gdLst/>
            <a:ahLst/>
            <a:cxnLst/>
            <a:rect r="r" b="b" t="t" l="l"/>
            <a:pathLst>
              <a:path h="2365254" w="9644982">
                <a:moveTo>
                  <a:pt x="0" y="0"/>
                </a:moveTo>
                <a:lnTo>
                  <a:pt x="9644982" y="0"/>
                </a:lnTo>
                <a:lnTo>
                  <a:pt x="9644982" y="2365255"/>
                </a:lnTo>
                <a:lnTo>
                  <a:pt x="0" y="2365255"/>
                </a:lnTo>
                <a:lnTo>
                  <a:pt x="0" y="0"/>
                </a:lnTo>
                <a:close/>
              </a:path>
            </a:pathLst>
          </a:custGeom>
          <a:blipFill>
            <a:blip r:embed="rId2"/>
            <a:stretch>
              <a:fillRect l="0" t="0" r="0" b="0"/>
            </a:stretch>
          </a:blipFill>
        </p:spPr>
      </p:sp>
      <p:sp>
        <p:nvSpPr>
          <p:cNvPr name="Freeform 3" id="3"/>
          <p:cNvSpPr/>
          <p:nvPr/>
        </p:nvSpPr>
        <p:spPr>
          <a:xfrm flipH="false" flipV="false" rot="0">
            <a:off x="10590331" y="6149436"/>
            <a:ext cx="5713531" cy="2566247"/>
          </a:xfrm>
          <a:custGeom>
            <a:avLst/>
            <a:gdLst/>
            <a:ahLst/>
            <a:cxnLst/>
            <a:rect r="r" b="b" t="t" l="l"/>
            <a:pathLst>
              <a:path h="2566247" w="5713531">
                <a:moveTo>
                  <a:pt x="0" y="0"/>
                </a:moveTo>
                <a:lnTo>
                  <a:pt x="5713531" y="0"/>
                </a:lnTo>
                <a:lnTo>
                  <a:pt x="5713531" y="2566247"/>
                </a:lnTo>
                <a:lnTo>
                  <a:pt x="0" y="2566247"/>
                </a:lnTo>
                <a:lnTo>
                  <a:pt x="0" y="0"/>
                </a:lnTo>
                <a:close/>
              </a:path>
            </a:pathLst>
          </a:custGeom>
          <a:blipFill>
            <a:blip r:embed="rId3"/>
            <a:stretch>
              <a:fillRect l="0" t="0" r="0" b="0"/>
            </a:stretch>
          </a:blipFill>
        </p:spPr>
      </p:sp>
      <p:sp>
        <p:nvSpPr>
          <p:cNvPr name="TextBox 4" id="4"/>
          <p:cNvSpPr txBox="true"/>
          <p:nvPr/>
        </p:nvSpPr>
        <p:spPr>
          <a:xfrm rot="0">
            <a:off x="473010" y="2059056"/>
            <a:ext cx="17543301" cy="554990"/>
          </a:xfrm>
          <a:prstGeom prst="rect">
            <a:avLst/>
          </a:prstGeom>
        </p:spPr>
        <p:txBody>
          <a:bodyPr anchor="t" rtlCol="false" tIns="0" lIns="0" bIns="0" rIns="0">
            <a:spAutoFit/>
          </a:bodyPr>
          <a:lstStyle/>
          <a:p>
            <a:pPr algn="ctr">
              <a:lnSpc>
                <a:spcPts val="3279"/>
              </a:lnSpc>
            </a:pPr>
            <a:r>
              <a:rPr lang="en-US" b="true" sz="3999">
                <a:solidFill>
                  <a:srgbClr val="F6E5C5"/>
                </a:solidFill>
                <a:latin typeface="Heading Now 71-78 Bold"/>
                <a:ea typeface="Heading Now 71-78 Bold"/>
                <a:cs typeface="Heading Now 71-78 Bold"/>
                <a:sym typeface="Heading Now 71-78 Bold"/>
              </a:rPr>
              <a:t>RETRIEVE THE TOTAL NUMBER OF ORDERS PLACED.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TextBox 2" id="2"/>
          <p:cNvSpPr txBox="true"/>
          <p:nvPr/>
        </p:nvSpPr>
        <p:spPr>
          <a:xfrm rot="0">
            <a:off x="284749" y="488443"/>
            <a:ext cx="14577975" cy="1396261"/>
          </a:xfrm>
          <a:prstGeom prst="rect">
            <a:avLst/>
          </a:prstGeom>
        </p:spPr>
        <p:txBody>
          <a:bodyPr anchor="t" rtlCol="false" tIns="0" lIns="0" bIns="0" rIns="0">
            <a:spAutoFit/>
          </a:bodyPr>
          <a:lstStyle/>
          <a:p>
            <a:pPr algn="ctr">
              <a:lnSpc>
                <a:spcPts val="4708"/>
              </a:lnSpc>
            </a:pPr>
            <a:r>
              <a:rPr lang="en-US" b="true" sz="5741">
                <a:solidFill>
                  <a:srgbClr val="E63F02"/>
                </a:solidFill>
                <a:latin typeface="Heading Now 71-78 Bold"/>
                <a:ea typeface="Heading Now 71-78 Bold"/>
                <a:cs typeface="Heading Now 71-78 Bold"/>
                <a:sym typeface="Heading Now 71-78 Bold"/>
              </a:rPr>
              <a:t>CALCULATE THE TOTAL REVENUE GENERATED FROM PIZZA SALES.</a:t>
            </a:r>
          </a:p>
        </p:txBody>
      </p:sp>
      <p:sp>
        <p:nvSpPr>
          <p:cNvPr name="Freeform 3" id="3"/>
          <p:cNvSpPr/>
          <p:nvPr/>
        </p:nvSpPr>
        <p:spPr>
          <a:xfrm flipH="false" flipV="false" rot="0">
            <a:off x="14862723" y="0"/>
            <a:ext cx="3159191" cy="3040932"/>
          </a:xfrm>
          <a:custGeom>
            <a:avLst/>
            <a:gdLst/>
            <a:ahLst/>
            <a:cxnLst/>
            <a:rect r="r" b="b" t="t" l="l"/>
            <a:pathLst>
              <a:path h="3040932" w="3159191">
                <a:moveTo>
                  <a:pt x="0" y="0"/>
                </a:moveTo>
                <a:lnTo>
                  <a:pt x="3159191" y="0"/>
                </a:lnTo>
                <a:lnTo>
                  <a:pt x="3159191" y="3040932"/>
                </a:lnTo>
                <a:lnTo>
                  <a:pt x="0" y="3040932"/>
                </a:lnTo>
                <a:lnTo>
                  <a:pt x="0" y="0"/>
                </a:lnTo>
                <a:close/>
              </a:path>
            </a:pathLst>
          </a:custGeom>
          <a:blipFill>
            <a:blip r:embed="rId2"/>
            <a:stretch>
              <a:fillRect l="0" t="0" r="0" b="0"/>
            </a:stretch>
          </a:blipFill>
        </p:spPr>
      </p:sp>
      <p:sp>
        <p:nvSpPr>
          <p:cNvPr name="Freeform 4" id="4"/>
          <p:cNvSpPr/>
          <p:nvPr/>
        </p:nvSpPr>
        <p:spPr>
          <a:xfrm flipH="false" flipV="false" rot="0">
            <a:off x="1028700" y="2767565"/>
            <a:ext cx="9910303" cy="3210380"/>
          </a:xfrm>
          <a:custGeom>
            <a:avLst/>
            <a:gdLst/>
            <a:ahLst/>
            <a:cxnLst/>
            <a:rect r="r" b="b" t="t" l="l"/>
            <a:pathLst>
              <a:path h="3210380" w="9910303">
                <a:moveTo>
                  <a:pt x="0" y="0"/>
                </a:moveTo>
                <a:lnTo>
                  <a:pt x="9910303" y="0"/>
                </a:lnTo>
                <a:lnTo>
                  <a:pt x="9910303" y="3210380"/>
                </a:lnTo>
                <a:lnTo>
                  <a:pt x="0" y="3210380"/>
                </a:lnTo>
                <a:lnTo>
                  <a:pt x="0" y="0"/>
                </a:lnTo>
                <a:close/>
              </a:path>
            </a:pathLst>
          </a:custGeom>
          <a:blipFill>
            <a:blip r:embed="rId3"/>
            <a:stretch>
              <a:fillRect l="0" t="0" r="0" b="0"/>
            </a:stretch>
          </a:blipFill>
        </p:spPr>
      </p:sp>
      <p:sp>
        <p:nvSpPr>
          <p:cNvPr name="Freeform 5" id="5"/>
          <p:cNvSpPr/>
          <p:nvPr/>
        </p:nvSpPr>
        <p:spPr>
          <a:xfrm flipH="false" flipV="false" rot="0">
            <a:off x="9916950" y="6577808"/>
            <a:ext cx="6711111" cy="2351757"/>
          </a:xfrm>
          <a:custGeom>
            <a:avLst/>
            <a:gdLst/>
            <a:ahLst/>
            <a:cxnLst/>
            <a:rect r="r" b="b" t="t" l="l"/>
            <a:pathLst>
              <a:path h="2351757" w="6711111">
                <a:moveTo>
                  <a:pt x="0" y="0"/>
                </a:moveTo>
                <a:lnTo>
                  <a:pt x="6711111" y="0"/>
                </a:lnTo>
                <a:lnTo>
                  <a:pt x="6711111" y="2351757"/>
                </a:lnTo>
                <a:lnTo>
                  <a:pt x="0" y="2351757"/>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6638676">
            <a:off x="-148232" y="365361"/>
            <a:ext cx="1566627" cy="1431506"/>
          </a:xfrm>
          <a:custGeom>
            <a:avLst/>
            <a:gdLst/>
            <a:ahLst/>
            <a:cxnLst/>
            <a:rect r="r" b="b" t="t" l="l"/>
            <a:pathLst>
              <a:path h="1431506" w="1566627">
                <a:moveTo>
                  <a:pt x="0" y="0"/>
                </a:moveTo>
                <a:lnTo>
                  <a:pt x="1566628" y="0"/>
                </a:lnTo>
                <a:lnTo>
                  <a:pt x="1566628" y="1431506"/>
                </a:lnTo>
                <a:lnTo>
                  <a:pt x="0" y="1431506"/>
                </a:lnTo>
                <a:lnTo>
                  <a:pt x="0" y="0"/>
                </a:lnTo>
                <a:close/>
              </a:path>
            </a:pathLst>
          </a:custGeom>
          <a:blipFill>
            <a:blip r:embed="rId2"/>
            <a:stretch>
              <a:fillRect l="0" t="0" r="0" b="0"/>
            </a:stretch>
          </a:blipFill>
        </p:spPr>
      </p:sp>
      <p:sp>
        <p:nvSpPr>
          <p:cNvPr name="Freeform 3" id="3"/>
          <p:cNvSpPr/>
          <p:nvPr/>
        </p:nvSpPr>
        <p:spPr>
          <a:xfrm flipH="false" flipV="false" rot="-877211">
            <a:off x="16944662" y="515664"/>
            <a:ext cx="1249441" cy="904283"/>
          </a:xfrm>
          <a:custGeom>
            <a:avLst/>
            <a:gdLst/>
            <a:ahLst/>
            <a:cxnLst/>
            <a:rect r="r" b="b" t="t" l="l"/>
            <a:pathLst>
              <a:path h="904283" w="1249441">
                <a:moveTo>
                  <a:pt x="0" y="0"/>
                </a:moveTo>
                <a:lnTo>
                  <a:pt x="1249441" y="0"/>
                </a:lnTo>
                <a:lnTo>
                  <a:pt x="1249441" y="904283"/>
                </a:lnTo>
                <a:lnTo>
                  <a:pt x="0" y="904283"/>
                </a:lnTo>
                <a:lnTo>
                  <a:pt x="0" y="0"/>
                </a:lnTo>
                <a:close/>
              </a:path>
            </a:pathLst>
          </a:custGeom>
          <a:blipFill>
            <a:blip r:embed="rId3"/>
            <a:stretch>
              <a:fillRect l="0" t="0" r="0" b="0"/>
            </a:stretch>
          </a:blipFill>
        </p:spPr>
      </p:sp>
      <p:sp>
        <p:nvSpPr>
          <p:cNvPr name="Freeform 4" id="4"/>
          <p:cNvSpPr/>
          <p:nvPr/>
        </p:nvSpPr>
        <p:spPr>
          <a:xfrm flipH="false" flipV="false" rot="0">
            <a:off x="635082" y="2516369"/>
            <a:ext cx="8365757" cy="4910227"/>
          </a:xfrm>
          <a:custGeom>
            <a:avLst/>
            <a:gdLst/>
            <a:ahLst/>
            <a:cxnLst/>
            <a:rect r="r" b="b" t="t" l="l"/>
            <a:pathLst>
              <a:path h="4910227" w="8365757">
                <a:moveTo>
                  <a:pt x="0" y="0"/>
                </a:moveTo>
                <a:lnTo>
                  <a:pt x="8365757" y="0"/>
                </a:lnTo>
                <a:lnTo>
                  <a:pt x="8365757" y="4910227"/>
                </a:lnTo>
                <a:lnTo>
                  <a:pt x="0" y="4910227"/>
                </a:lnTo>
                <a:lnTo>
                  <a:pt x="0" y="0"/>
                </a:lnTo>
                <a:close/>
              </a:path>
            </a:pathLst>
          </a:custGeom>
          <a:blipFill>
            <a:blip r:embed="rId4"/>
            <a:stretch>
              <a:fillRect l="0" t="-2466" r="0" b="-2466"/>
            </a:stretch>
          </a:blipFill>
        </p:spPr>
      </p:sp>
      <p:sp>
        <p:nvSpPr>
          <p:cNvPr name="Freeform 5" id="5"/>
          <p:cNvSpPr/>
          <p:nvPr/>
        </p:nvSpPr>
        <p:spPr>
          <a:xfrm flipH="false" flipV="false" rot="0">
            <a:off x="9621394" y="6548501"/>
            <a:ext cx="7947989" cy="3138776"/>
          </a:xfrm>
          <a:custGeom>
            <a:avLst/>
            <a:gdLst/>
            <a:ahLst/>
            <a:cxnLst/>
            <a:rect r="r" b="b" t="t" l="l"/>
            <a:pathLst>
              <a:path h="3138776" w="7947989">
                <a:moveTo>
                  <a:pt x="0" y="0"/>
                </a:moveTo>
                <a:lnTo>
                  <a:pt x="7947989" y="0"/>
                </a:lnTo>
                <a:lnTo>
                  <a:pt x="7947989" y="3138777"/>
                </a:lnTo>
                <a:lnTo>
                  <a:pt x="0" y="3138777"/>
                </a:lnTo>
                <a:lnTo>
                  <a:pt x="0" y="0"/>
                </a:lnTo>
                <a:close/>
              </a:path>
            </a:pathLst>
          </a:custGeom>
          <a:blipFill>
            <a:blip r:embed="rId5"/>
            <a:stretch>
              <a:fillRect l="0" t="0" r="-791" b="0"/>
            </a:stretch>
          </a:blipFill>
        </p:spPr>
      </p:sp>
      <p:sp>
        <p:nvSpPr>
          <p:cNvPr name="TextBox 6" id="6"/>
          <p:cNvSpPr txBox="true"/>
          <p:nvPr/>
        </p:nvSpPr>
        <p:spPr>
          <a:xfrm rot="0">
            <a:off x="1028700" y="210047"/>
            <a:ext cx="16697071" cy="2306321"/>
          </a:xfrm>
          <a:prstGeom prst="rect">
            <a:avLst/>
          </a:prstGeom>
        </p:spPr>
        <p:txBody>
          <a:bodyPr anchor="t" rtlCol="false" tIns="0" lIns="0" bIns="0" rIns="0">
            <a:spAutoFit/>
          </a:bodyPr>
          <a:lstStyle/>
          <a:p>
            <a:pPr algn="ctr">
              <a:lnSpc>
                <a:spcPts val="7790"/>
              </a:lnSpc>
            </a:pPr>
            <a:r>
              <a:rPr lang="en-US" b="true" sz="9500">
                <a:solidFill>
                  <a:srgbClr val="F6E5C5"/>
                </a:solidFill>
                <a:latin typeface="Heading Now 71-78 Bold"/>
                <a:ea typeface="Heading Now 71-78 Bold"/>
                <a:cs typeface="Heading Now 71-78 Bold"/>
                <a:sym typeface="Heading Now 71-78 Bold"/>
              </a:rPr>
              <a:t>IDENTIFY THE HIGHEST PRICED PIZZA.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TextBox 2" id="2"/>
          <p:cNvSpPr txBox="true"/>
          <p:nvPr/>
        </p:nvSpPr>
        <p:spPr>
          <a:xfrm rot="0">
            <a:off x="6548490" y="182738"/>
            <a:ext cx="11692321" cy="2357188"/>
          </a:xfrm>
          <a:prstGeom prst="rect">
            <a:avLst/>
          </a:prstGeom>
        </p:spPr>
        <p:txBody>
          <a:bodyPr anchor="t" rtlCol="false" tIns="0" lIns="0" bIns="0" rIns="0">
            <a:spAutoFit/>
          </a:bodyPr>
          <a:lstStyle/>
          <a:p>
            <a:pPr algn="ctr">
              <a:lnSpc>
                <a:spcPts val="5579"/>
              </a:lnSpc>
            </a:pPr>
            <a:r>
              <a:rPr lang="en-US" b="true" sz="6804">
                <a:solidFill>
                  <a:srgbClr val="E63F02"/>
                </a:solidFill>
                <a:latin typeface="Heading Now 71-78 Bold"/>
                <a:ea typeface="Heading Now 71-78 Bold"/>
                <a:cs typeface="Heading Now 71-78 Bold"/>
                <a:sym typeface="Heading Now 71-78 Bold"/>
              </a:rPr>
              <a:t>IDENTIFY THE MOST COMMON PIZZA SIZE ORDERED.</a:t>
            </a:r>
          </a:p>
        </p:txBody>
      </p:sp>
      <p:grpSp>
        <p:nvGrpSpPr>
          <p:cNvPr name="Group 3" id="3"/>
          <p:cNvGrpSpPr/>
          <p:nvPr/>
        </p:nvGrpSpPr>
        <p:grpSpPr>
          <a:xfrm rot="0">
            <a:off x="-4227081" y="-695200"/>
            <a:ext cx="11677399" cy="1167739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63F02"/>
            </a:solidFill>
          </p:spPr>
        </p:sp>
        <p:sp>
          <p:nvSpPr>
            <p:cNvPr name="TextBox 5" id="5"/>
            <p:cNvSpPr txBox="true"/>
            <p:nvPr/>
          </p:nvSpPr>
          <p:spPr>
            <a:xfrm>
              <a:off x="76200" y="19050"/>
              <a:ext cx="660400" cy="71755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556064">
            <a:off x="183107" y="3163308"/>
            <a:ext cx="8975777" cy="8201616"/>
          </a:xfrm>
          <a:custGeom>
            <a:avLst/>
            <a:gdLst/>
            <a:ahLst/>
            <a:cxnLst/>
            <a:rect r="r" b="b" t="t" l="l"/>
            <a:pathLst>
              <a:path h="8201616" w="8975777">
                <a:moveTo>
                  <a:pt x="0" y="0"/>
                </a:moveTo>
                <a:lnTo>
                  <a:pt x="8975776" y="0"/>
                </a:lnTo>
                <a:lnTo>
                  <a:pt x="8975776" y="8201616"/>
                </a:lnTo>
                <a:lnTo>
                  <a:pt x="0" y="8201616"/>
                </a:lnTo>
                <a:lnTo>
                  <a:pt x="0" y="0"/>
                </a:lnTo>
                <a:close/>
              </a:path>
            </a:pathLst>
          </a:custGeom>
          <a:blipFill>
            <a:blip r:embed="rId2"/>
            <a:stretch>
              <a:fillRect l="0" t="0" r="0" b="0"/>
            </a:stretch>
          </a:blipFill>
        </p:spPr>
      </p:sp>
      <p:sp>
        <p:nvSpPr>
          <p:cNvPr name="Freeform 7" id="7"/>
          <p:cNvSpPr/>
          <p:nvPr/>
        </p:nvSpPr>
        <p:spPr>
          <a:xfrm flipH="false" flipV="false" rot="0">
            <a:off x="7576155" y="2728904"/>
            <a:ext cx="10119908" cy="4346234"/>
          </a:xfrm>
          <a:custGeom>
            <a:avLst/>
            <a:gdLst/>
            <a:ahLst/>
            <a:cxnLst/>
            <a:rect r="r" b="b" t="t" l="l"/>
            <a:pathLst>
              <a:path h="4346234" w="10119908">
                <a:moveTo>
                  <a:pt x="0" y="0"/>
                </a:moveTo>
                <a:lnTo>
                  <a:pt x="10119908" y="0"/>
                </a:lnTo>
                <a:lnTo>
                  <a:pt x="10119908" y="4346234"/>
                </a:lnTo>
                <a:lnTo>
                  <a:pt x="0" y="4346234"/>
                </a:lnTo>
                <a:lnTo>
                  <a:pt x="0" y="0"/>
                </a:lnTo>
                <a:close/>
              </a:path>
            </a:pathLst>
          </a:custGeom>
          <a:blipFill>
            <a:blip r:embed="rId3"/>
            <a:stretch>
              <a:fillRect l="0" t="0" r="0" b="0"/>
            </a:stretch>
          </a:blipFill>
        </p:spPr>
      </p:sp>
      <p:sp>
        <p:nvSpPr>
          <p:cNvPr name="Freeform 8" id="8"/>
          <p:cNvSpPr/>
          <p:nvPr/>
        </p:nvSpPr>
        <p:spPr>
          <a:xfrm flipH="false" flipV="false" rot="0">
            <a:off x="9478984" y="7264116"/>
            <a:ext cx="8629709" cy="2854400"/>
          </a:xfrm>
          <a:custGeom>
            <a:avLst/>
            <a:gdLst/>
            <a:ahLst/>
            <a:cxnLst/>
            <a:rect r="r" b="b" t="t" l="l"/>
            <a:pathLst>
              <a:path h="2854400" w="8629709">
                <a:moveTo>
                  <a:pt x="0" y="0"/>
                </a:moveTo>
                <a:lnTo>
                  <a:pt x="8629709" y="0"/>
                </a:lnTo>
                <a:lnTo>
                  <a:pt x="8629709" y="2854401"/>
                </a:lnTo>
                <a:lnTo>
                  <a:pt x="0" y="2854401"/>
                </a:lnTo>
                <a:lnTo>
                  <a:pt x="0" y="0"/>
                </a:lnTo>
                <a:close/>
              </a:path>
            </a:pathLst>
          </a:custGeom>
          <a:blipFill>
            <a:blip r:embed="rId4"/>
            <a:stretch>
              <a:fillRect l="0" t="-528" r="-4515" b="-528"/>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4689769">
            <a:off x="-7425153" y="-6569834"/>
            <a:ext cx="9900034" cy="9918067"/>
          </a:xfrm>
          <a:custGeom>
            <a:avLst/>
            <a:gdLst/>
            <a:ahLst/>
            <a:cxnLst/>
            <a:rect r="r" b="b" t="t" l="l"/>
            <a:pathLst>
              <a:path h="9918067" w="9900034">
                <a:moveTo>
                  <a:pt x="0" y="0"/>
                </a:moveTo>
                <a:lnTo>
                  <a:pt x="9900034" y="0"/>
                </a:lnTo>
                <a:lnTo>
                  <a:pt x="9900034" y="9918067"/>
                </a:lnTo>
                <a:lnTo>
                  <a:pt x="0" y="9918067"/>
                </a:lnTo>
                <a:lnTo>
                  <a:pt x="0" y="0"/>
                </a:lnTo>
                <a:close/>
              </a:path>
            </a:pathLst>
          </a:custGeom>
          <a:blipFill>
            <a:blip r:embed="rId2"/>
            <a:stretch>
              <a:fillRect l="0" t="0" r="0" b="0"/>
            </a:stretch>
          </a:blipFill>
        </p:spPr>
      </p:sp>
      <p:sp>
        <p:nvSpPr>
          <p:cNvPr name="Freeform 3" id="3"/>
          <p:cNvSpPr/>
          <p:nvPr/>
        </p:nvSpPr>
        <p:spPr>
          <a:xfrm flipH="false" flipV="false" rot="4689769">
            <a:off x="14953413" y="-3436921"/>
            <a:ext cx="9303542" cy="9320488"/>
          </a:xfrm>
          <a:custGeom>
            <a:avLst/>
            <a:gdLst/>
            <a:ahLst/>
            <a:cxnLst/>
            <a:rect r="r" b="b" t="t" l="l"/>
            <a:pathLst>
              <a:path h="9320488" w="9303542">
                <a:moveTo>
                  <a:pt x="0" y="0"/>
                </a:moveTo>
                <a:lnTo>
                  <a:pt x="9303542" y="0"/>
                </a:lnTo>
                <a:lnTo>
                  <a:pt x="9303542" y="9320488"/>
                </a:lnTo>
                <a:lnTo>
                  <a:pt x="0" y="9320488"/>
                </a:lnTo>
                <a:lnTo>
                  <a:pt x="0" y="0"/>
                </a:lnTo>
                <a:close/>
              </a:path>
            </a:pathLst>
          </a:custGeom>
          <a:blipFill>
            <a:blip r:embed="rId2"/>
            <a:stretch>
              <a:fillRect l="0" t="0" r="0" b="0"/>
            </a:stretch>
          </a:blipFill>
        </p:spPr>
      </p:sp>
      <p:sp>
        <p:nvSpPr>
          <p:cNvPr name="Freeform 4" id="4"/>
          <p:cNvSpPr/>
          <p:nvPr/>
        </p:nvSpPr>
        <p:spPr>
          <a:xfrm flipH="false" flipV="false" rot="0">
            <a:off x="113533" y="3654254"/>
            <a:ext cx="8717612" cy="5023327"/>
          </a:xfrm>
          <a:custGeom>
            <a:avLst/>
            <a:gdLst/>
            <a:ahLst/>
            <a:cxnLst/>
            <a:rect r="r" b="b" t="t" l="l"/>
            <a:pathLst>
              <a:path h="5023327" w="8717612">
                <a:moveTo>
                  <a:pt x="0" y="0"/>
                </a:moveTo>
                <a:lnTo>
                  <a:pt x="8717612" y="0"/>
                </a:lnTo>
                <a:lnTo>
                  <a:pt x="8717612" y="5023327"/>
                </a:lnTo>
                <a:lnTo>
                  <a:pt x="0" y="5023327"/>
                </a:lnTo>
                <a:lnTo>
                  <a:pt x="0" y="0"/>
                </a:lnTo>
                <a:close/>
              </a:path>
            </a:pathLst>
          </a:custGeom>
          <a:blipFill>
            <a:blip r:embed="rId3"/>
            <a:stretch>
              <a:fillRect l="0" t="0" r="0" b="0"/>
            </a:stretch>
          </a:blipFill>
        </p:spPr>
      </p:sp>
      <p:sp>
        <p:nvSpPr>
          <p:cNvPr name="Freeform 5" id="5"/>
          <p:cNvSpPr/>
          <p:nvPr/>
        </p:nvSpPr>
        <p:spPr>
          <a:xfrm flipH="false" flipV="false" rot="0">
            <a:off x="9511864" y="5765964"/>
            <a:ext cx="7801777" cy="3957423"/>
          </a:xfrm>
          <a:custGeom>
            <a:avLst/>
            <a:gdLst/>
            <a:ahLst/>
            <a:cxnLst/>
            <a:rect r="r" b="b" t="t" l="l"/>
            <a:pathLst>
              <a:path h="3957423" w="7801777">
                <a:moveTo>
                  <a:pt x="0" y="0"/>
                </a:moveTo>
                <a:lnTo>
                  <a:pt x="7801777" y="0"/>
                </a:lnTo>
                <a:lnTo>
                  <a:pt x="7801777" y="3957423"/>
                </a:lnTo>
                <a:lnTo>
                  <a:pt x="0" y="3957423"/>
                </a:lnTo>
                <a:lnTo>
                  <a:pt x="0" y="0"/>
                </a:lnTo>
                <a:close/>
              </a:path>
            </a:pathLst>
          </a:custGeom>
          <a:blipFill>
            <a:blip r:embed="rId4"/>
            <a:stretch>
              <a:fillRect l="0" t="0" r="0" b="0"/>
            </a:stretch>
          </a:blipFill>
        </p:spPr>
      </p:sp>
      <p:sp>
        <p:nvSpPr>
          <p:cNvPr name="TextBox 6" id="6"/>
          <p:cNvSpPr txBox="true"/>
          <p:nvPr/>
        </p:nvSpPr>
        <p:spPr>
          <a:xfrm rot="0">
            <a:off x="2605492" y="167009"/>
            <a:ext cx="12872034" cy="3062038"/>
          </a:xfrm>
          <a:prstGeom prst="rect">
            <a:avLst/>
          </a:prstGeom>
        </p:spPr>
        <p:txBody>
          <a:bodyPr anchor="t" rtlCol="false" tIns="0" lIns="0" bIns="0" rIns="0">
            <a:spAutoFit/>
          </a:bodyPr>
          <a:lstStyle/>
          <a:p>
            <a:pPr algn="ctr">
              <a:lnSpc>
                <a:spcPts val="5579"/>
              </a:lnSpc>
            </a:pPr>
            <a:r>
              <a:rPr lang="en-US" b="true" sz="6804">
                <a:solidFill>
                  <a:srgbClr val="F6E5C5"/>
                </a:solidFill>
                <a:latin typeface="Heading Now 71-78 Bold"/>
                <a:ea typeface="Heading Now 71-78 Bold"/>
                <a:cs typeface="Heading Now 71-78 Bold"/>
                <a:sym typeface="Heading Now 71-78 Bold"/>
              </a:rPr>
              <a:t>L</a:t>
            </a:r>
            <a:r>
              <a:rPr lang="en-US" b="true" sz="6804">
                <a:solidFill>
                  <a:srgbClr val="F6E5C5"/>
                </a:solidFill>
                <a:latin typeface="Heading Now 71-78 Bold"/>
                <a:ea typeface="Heading Now 71-78 Bold"/>
                <a:cs typeface="Heading Now 71-78 Bold"/>
                <a:sym typeface="Heading Now 71-78 Bold"/>
              </a:rPr>
              <a:t>IST THE TOP 5 MOST ORDERED PIZZA TYPES ALONG WITH THEIR QUANTITIES.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2769875" y="-3836208"/>
            <a:ext cx="7597149" cy="7459019"/>
          </a:xfrm>
          <a:custGeom>
            <a:avLst/>
            <a:gdLst/>
            <a:ahLst/>
            <a:cxnLst/>
            <a:rect r="r" b="b" t="t" l="l"/>
            <a:pathLst>
              <a:path h="7459019" w="7597149">
                <a:moveTo>
                  <a:pt x="0" y="0"/>
                </a:moveTo>
                <a:lnTo>
                  <a:pt x="7597150" y="0"/>
                </a:lnTo>
                <a:lnTo>
                  <a:pt x="7597150" y="7459020"/>
                </a:lnTo>
                <a:lnTo>
                  <a:pt x="0" y="7459020"/>
                </a:lnTo>
                <a:lnTo>
                  <a:pt x="0" y="0"/>
                </a:lnTo>
                <a:close/>
              </a:path>
            </a:pathLst>
          </a:custGeom>
          <a:blipFill>
            <a:blip r:embed="rId2"/>
            <a:stretch>
              <a:fillRect l="0" t="0" r="0" b="0"/>
            </a:stretch>
          </a:blipFill>
        </p:spPr>
      </p:sp>
      <p:sp>
        <p:nvSpPr>
          <p:cNvPr name="Freeform 3" id="3"/>
          <p:cNvSpPr/>
          <p:nvPr/>
        </p:nvSpPr>
        <p:spPr>
          <a:xfrm flipH="false" flipV="false" rot="0">
            <a:off x="1442080" y="3732918"/>
            <a:ext cx="9804138" cy="5243507"/>
          </a:xfrm>
          <a:custGeom>
            <a:avLst/>
            <a:gdLst/>
            <a:ahLst/>
            <a:cxnLst/>
            <a:rect r="r" b="b" t="t" l="l"/>
            <a:pathLst>
              <a:path h="5243507" w="9804138">
                <a:moveTo>
                  <a:pt x="0" y="0"/>
                </a:moveTo>
                <a:lnTo>
                  <a:pt x="9804138" y="0"/>
                </a:lnTo>
                <a:lnTo>
                  <a:pt x="9804138" y="5243507"/>
                </a:lnTo>
                <a:lnTo>
                  <a:pt x="0" y="5243507"/>
                </a:lnTo>
                <a:lnTo>
                  <a:pt x="0" y="0"/>
                </a:lnTo>
                <a:close/>
              </a:path>
            </a:pathLst>
          </a:custGeom>
          <a:blipFill>
            <a:blip r:embed="rId3"/>
            <a:stretch>
              <a:fillRect l="0" t="0" r="0" b="0"/>
            </a:stretch>
          </a:blipFill>
        </p:spPr>
      </p:sp>
      <p:sp>
        <p:nvSpPr>
          <p:cNvPr name="Freeform 4" id="4"/>
          <p:cNvSpPr/>
          <p:nvPr/>
        </p:nvSpPr>
        <p:spPr>
          <a:xfrm flipH="false" flipV="false" rot="0">
            <a:off x="11629552" y="6063414"/>
            <a:ext cx="6291252" cy="3936065"/>
          </a:xfrm>
          <a:custGeom>
            <a:avLst/>
            <a:gdLst/>
            <a:ahLst/>
            <a:cxnLst/>
            <a:rect r="r" b="b" t="t" l="l"/>
            <a:pathLst>
              <a:path h="3936065" w="6291252">
                <a:moveTo>
                  <a:pt x="0" y="0"/>
                </a:moveTo>
                <a:lnTo>
                  <a:pt x="6291252" y="0"/>
                </a:lnTo>
                <a:lnTo>
                  <a:pt x="6291252" y="3936065"/>
                </a:lnTo>
                <a:lnTo>
                  <a:pt x="0" y="3936065"/>
                </a:lnTo>
                <a:lnTo>
                  <a:pt x="0" y="0"/>
                </a:lnTo>
                <a:close/>
              </a:path>
            </a:pathLst>
          </a:custGeom>
          <a:blipFill>
            <a:blip r:embed="rId4"/>
            <a:stretch>
              <a:fillRect l="0" t="0" r="0" b="0"/>
            </a:stretch>
          </a:blipFill>
        </p:spPr>
      </p:sp>
      <p:sp>
        <p:nvSpPr>
          <p:cNvPr name="TextBox 5" id="5"/>
          <p:cNvSpPr txBox="true"/>
          <p:nvPr/>
        </p:nvSpPr>
        <p:spPr>
          <a:xfrm rot="0">
            <a:off x="4629491" y="182738"/>
            <a:ext cx="13611320" cy="3062038"/>
          </a:xfrm>
          <a:prstGeom prst="rect">
            <a:avLst/>
          </a:prstGeom>
        </p:spPr>
        <p:txBody>
          <a:bodyPr anchor="t" rtlCol="false" tIns="0" lIns="0" bIns="0" rIns="0">
            <a:spAutoFit/>
          </a:bodyPr>
          <a:lstStyle/>
          <a:p>
            <a:pPr algn="ctr">
              <a:lnSpc>
                <a:spcPts val="5579"/>
              </a:lnSpc>
            </a:pPr>
            <a:r>
              <a:rPr lang="en-US" b="true" sz="6804">
                <a:solidFill>
                  <a:srgbClr val="E63F02"/>
                </a:solidFill>
                <a:latin typeface="Heading Now 71-78 Bold"/>
                <a:ea typeface="Heading Now 71-78 Bold"/>
                <a:cs typeface="Heading Now 71-78 Bold"/>
                <a:sym typeface="Heading Now 71-78 Bold"/>
              </a:rPr>
              <a:t>JOIN THE NECESSARY TABLES TO FIND THE TOTAL QUANTITY OF EACH PIZZA CATEGORY ORDERED.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7562341">
            <a:off x="11020731" y="1433064"/>
            <a:ext cx="8975777" cy="8201616"/>
          </a:xfrm>
          <a:custGeom>
            <a:avLst/>
            <a:gdLst/>
            <a:ahLst/>
            <a:cxnLst/>
            <a:rect r="r" b="b" t="t" l="l"/>
            <a:pathLst>
              <a:path h="8201616" w="8975777">
                <a:moveTo>
                  <a:pt x="0" y="0"/>
                </a:moveTo>
                <a:lnTo>
                  <a:pt x="8975777" y="0"/>
                </a:lnTo>
                <a:lnTo>
                  <a:pt x="8975777" y="8201615"/>
                </a:lnTo>
                <a:lnTo>
                  <a:pt x="0" y="8201615"/>
                </a:lnTo>
                <a:lnTo>
                  <a:pt x="0" y="0"/>
                </a:lnTo>
                <a:close/>
              </a:path>
            </a:pathLst>
          </a:custGeom>
          <a:blipFill>
            <a:blip r:embed="rId2"/>
            <a:stretch>
              <a:fillRect l="0" t="0" r="0" b="0"/>
            </a:stretch>
          </a:blipFill>
        </p:spPr>
      </p:sp>
      <p:sp>
        <p:nvSpPr>
          <p:cNvPr name="Freeform 3" id="3"/>
          <p:cNvSpPr/>
          <p:nvPr/>
        </p:nvSpPr>
        <p:spPr>
          <a:xfrm flipH="false" flipV="false" rot="0">
            <a:off x="360316" y="2976105"/>
            <a:ext cx="12167500" cy="1712292"/>
          </a:xfrm>
          <a:custGeom>
            <a:avLst/>
            <a:gdLst/>
            <a:ahLst/>
            <a:cxnLst/>
            <a:rect r="r" b="b" t="t" l="l"/>
            <a:pathLst>
              <a:path h="1712292" w="12167500">
                <a:moveTo>
                  <a:pt x="0" y="0"/>
                </a:moveTo>
                <a:lnTo>
                  <a:pt x="12167499" y="0"/>
                </a:lnTo>
                <a:lnTo>
                  <a:pt x="12167499" y="1712293"/>
                </a:lnTo>
                <a:lnTo>
                  <a:pt x="0" y="1712293"/>
                </a:lnTo>
                <a:lnTo>
                  <a:pt x="0" y="0"/>
                </a:lnTo>
                <a:close/>
              </a:path>
            </a:pathLst>
          </a:custGeom>
          <a:blipFill>
            <a:blip r:embed="rId3"/>
            <a:stretch>
              <a:fillRect l="-1108" t="0" r="-1760" b="0"/>
            </a:stretch>
          </a:blipFill>
        </p:spPr>
      </p:sp>
      <p:sp>
        <p:nvSpPr>
          <p:cNvPr name="Freeform 4" id="4"/>
          <p:cNvSpPr/>
          <p:nvPr/>
        </p:nvSpPr>
        <p:spPr>
          <a:xfrm flipH="false" flipV="false" rot="0">
            <a:off x="9298191" y="4899294"/>
            <a:ext cx="2868977" cy="5214681"/>
          </a:xfrm>
          <a:custGeom>
            <a:avLst/>
            <a:gdLst/>
            <a:ahLst/>
            <a:cxnLst/>
            <a:rect r="r" b="b" t="t" l="l"/>
            <a:pathLst>
              <a:path h="5214681" w="2868977">
                <a:moveTo>
                  <a:pt x="0" y="0"/>
                </a:moveTo>
                <a:lnTo>
                  <a:pt x="2868977" y="0"/>
                </a:lnTo>
                <a:lnTo>
                  <a:pt x="2868977" y="5214682"/>
                </a:lnTo>
                <a:lnTo>
                  <a:pt x="0" y="5214682"/>
                </a:lnTo>
                <a:lnTo>
                  <a:pt x="0" y="0"/>
                </a:lnTo>
                <a:close/>
              </a:path>
            </a:pathLst>
          </a:custGeom>
          <a:blipFill>
            <a:blip r:embed="rId4"/>
            <a:stretch>
              <a:fillRect l="0" t="0" r="0" b="0"/>
            </a:stretch>
          </a:blipFill>
        </p:spPr>
      </p:sp>
      <p:sp>
        <p:nvSpPr>
          <p:cNvPr name="TextBox 5" id="5"/>
          <p:cNvSpPr txBox="true"/>
          <p:nvPr/>
        </p:nvSpPr>
        <p:spPr>
          <a:xfrm rot="0">
            <a:off x="183149" y="355763"/>
            <a:ext cx="13312460" cy="2357188"/>
          </a:xfrm>
          <a:prstGeom prst="rect">
            <a:avLst/>
          </a:prstGeom>
        </p:spPr>
        <p:txBody>
          <a:bodyPr anchor="t" rtlCol="false" tIns="0" lIns="0" bIns="0" rIns="0">
            <a:spAutoFit/>
          </a:bodyPr>
          <a:lstStyle/>
          <a:p>
            <a:pPr algn="ctr">
              <a:lnSpc>
                <a:spcPts val="5579"/>
              </a:lnSpc>
            </a:pPr>
            <a:r>
              <a:rPr lang="en-US" b="true" sz="6804">
                <a:solidFill>
                  <a:srgbClr val="F6E5C5"/>
                </a:solidFill>
                <a:latin typeface="Heading Now 71-78 Bold"/>
                <a:ea typeface="Heading Now 71-78 Bold"/>
                <a:cs typeface="Heading Now 71-78 Bold"/>
                <a:sym typeface="Heading Now 71-78 Bold"/>
              </a:rPr>
              <a:t>DETERM</a:t>
            </a:r>
            <a:r>
              <a:rPr lang="en-US" b="true" sz="6804">
                <a:solidFill>
                  <a:srgbClr val="F6E5C5"/>
                </a:solidFill>
                <a:latin typeface="Heading Now 71-78 Bold"/>
                <a:ea typeface="Heading Now 71-78 Bold"/>
                <a:cs typeface="Heading Now 71-78 Bold"/>
                <a:sym typeface="Heading Now 71-78 Bold"/>
              </a:rPr>
              <a:t>INE THE DISTRIBUTION OF ORDERS BY HOUR OF THE DAY.</a:t>
            </a:r>
          </a:p>
        </p:txBody>
      </p:sp>
      <p:sp>
        <p:nvSpPr>
          <p:cNvPr name="Freeform 6" id="6"/>
          <p:cNvSpPr/>
          <p:nvPr/>
        </p:nvSpPr>
        <p:spPr>
          <a:xfrm flipH="false" flipV="false" rot="0">
            <a:off x="1130871" y="5143546"/>
            <a:ext cx="5032994" cy="4844593"/>
          </a:xfrm>
          <a:custGeom>
            <a:avLst/>
            <a:gdLst/>
            <a:ahLst/>
            <a:cxnLst/>
            <a:rect r="r" b="b" t="t" l="l"/>
            <a:pathLst>
              <a:path h="4844593" w="5032994">
                <a:moveTo>
                  <a:pt x="0" y="0"/>
                </a:moveTo>
                <a:lnTo>
                  <a:pt x="5032994" y="0"/>
                </a:lnTo>
                <a:lnTo>
                  <a:pt x="5032994" y="4844594"/>
                </a:lnTo>
                <a:lnTo>
                  <a:pt x="0" y="4844594"/>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393486" y="3056532"/>
            <a:ext cx="9137626" cy="5010127"/>
          </a:xfrm>
          <a:custGeom>
            <a:avLst/>
            <a:gdLst/>
            <a:ahLst/>
            <a:cxnLst/>
            <a:rect r="r" b="b" t="t" l="l"/>
            <a:pathLst>
              <a:path h="5010127" w="9137626">
                <a:moveTo>
                  <a:pt x="0" y="0"/>
                </a:moveTo>
                <a:lnTo>
                  <a:pt x="9137626" y="0"/>
                </a:lnTo>
                <a:lnTo>
                  <a:pt x="9137626" y="5010127"/>
                </a:lnTo>
                <a:lnTo>
                  <a:pt x="0" y="5010127"/>
                </a:lnTo>
                <a:lnTo>
                  <a:pt x="0" y="0"/>
                </a:lnTo>
                <a:close/>
              </a:path>
            </a:pathLst>
          </a:custGeom>
          <a:blipFill>
            <a:blip r:embed="rId2"/>
            <a:stretch>
              <a:fillRect l="0" t="-6941" r="0" b="-6941"/>
            </a:stretch>
          </a:blipFill>
        </p:spPr>
      </p:sp>
      <p:sp>
        <p:nvSpPr>
          <p:cNvPr name="Freeform 3" id="3"/>
          <p:cNvSpPr/>
          <p:nvPr/>
        </p:nvSpPr>
        <p:spPr>
          <a:xfrm flipH="false" flipV="false" rot="0">
            <a:off x="10250825" y="5328288"/>
            <a:ext cx="7738314" cy="4659851"/>
          </a:xfrm>
          <a:custGeom>
            <a:avLst/>
            <a:gdLst/>
            <a:ahLst/>
            <a:cxnLst/>
            <a:rect r="r" b="b" t="t" l="l"/>
            <a:pathLst>
              <a:path h="4659851" w="7738314">
                <a:moveTo>
                  <a:pt x="0" y="0"/>
                </a:moveTo>
                <a:lnTo>
                  <a:pt x="7738315" y="0"/>
                </a:lnTo>
                <a:lnTo>
                  <a:pt x="7738315" y="4659852"/>
                </a:lnTo>
                <a:lnTo>
                  <a:pt x="0" y="4659852"/>
                </a:lnTo>
                <a:lnTo>
                  <a:pt x="0" y="0"/>
                </a:lnTo>
                <a:close/>
              </a:path>
            </a:pathLst>
          </a:custGeom>
          <a:blipFill>
            <a:blip r:embed="rId3"/>
            <a:stretch>
              <a:fillRect l="0" t="0" r="-3862" b="0"/>
            </a:stretch>
          </a:blipFill>
        </p:spPr>
      </p:sp>
      <p:sp>
        <p:nvSpPr>
          <p:cNvPr name="TextBox 4" id="4"/>
          <p:cNvSpPr txBox="true"/>
          <p:nvPr/>
        </p:nvSpPr>
        <p:spPr>
          <a:xfrm rot="0">
            <a:off x="146584" y="292845"/>
            <a:ext cx="18141416" cy="2357188"/>
          </a:xfrm>
          <a:prstGeom prst="rect">
            <a:avLst/>
          </a:prstGeom>
        </p:spPr>
        <p:txBody>
          <a:bodyPr anchor="t" rtlCol="false" tIns="0" lIns="0" bIns="0" rIns="0">
            <a:spAutoFit/>
          </a:bodyPr>
          <a:lstStyle/>
          <a:p>
            <a:pPr algn="ctr">
              <a:lnSpc>
                <a:spcPts val="5579"/>
              </a:lnSpc>
            </a:pPr>
            <a:r>
              <a:rPr lang="en-US" b="true" sz="6804">
                <a:solidFill>
                  <a:srgbClr val="E63F02"/>
                </a:solidFill>
                <a:latin typeface="Heading Now 71-78 Bold"/>
                <a:ea typeface="Heading Now 71-78 Bold"/>
                <a:cs typeface="Heading Now 71-78 Bold"/>
                <a:sym typeface="Heading Now 71-78 Bold"/>
              </a:rPr>
              <a:t>JOIN RELEVANT TABLES TO FIND THE CATEGORY WISE DISTRIBUTION OF PIZZAS.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0">
            <a:off x="371903" y="3086292"/>
            <a:ext cx="10489239" cy="3736907"/>
          </a:xfrm>
          <a:custGeom>
            <a:avLst/>
            <a:gdLst/>
            <a:ahLst/>
            <a:cxnLst/>
            <a:rect r="r" b="b" t="t" l="l"/>
            <a:pathLst>
              <a:path h="3736907" w="10489239">
                <a:moveTo>
                  <a:pt x="0" y="0"/>
                </a:moveTo>
                <a:lnTo>
                  <a:pt x="10489240" y="0"/>
                </a:lnTo>
                <a:lnTo>
                  <a:pt x="10489240" y="3736908"/>
                </a:lnTo>
                <a:lnTo>
                  <a:pt x="0" y="3736908"/>
                </a:lnTo>
                <a:lnTo>
                  <a:pt x="0" y="0"/>
                </a:lnTo>
                <a:close/>
              </a:path>
            </a:pathLst>
          </a:custGeom>
          <a:blipFill>
            <a:blip r:embed="rId2"/>
            <a:stretch>
              <a:fillRect l="0" t="0" r="0" b="0"/>
            </a:stretch>
          </a:blipFill>
        </p:spPr>
      </p:sp>
      <p:sp>
        <p:nvSpPr>
          <p:cNvPr name="Freeform 3" id="3"/>
          <p:cNvSpPr/>
          <p:nvPr/>
        </p:nvSpPr>
        <p:spPr>
          <a:xfrm flipH="false" flipV="false" rot="0">
            <a:off x="9959786" y="7004175"/>
            <a:ext cx="7851674" cy="3140669"/>
          </a:xfrm>
          <a:custGeom>
            <a:avLst/>
            <a:gdLst/>
            <a:ahLst/>
            <a:cxnLst/>
            <a:rect r="r" b="b" t="t" l="l"/>
            <a:pathLst>
              <a:path h="3140669" w="7851674">
                <a:moveTo>
                  <a:pt x="0" y="0"/>
                </a:moveTo>
                <a:lnTo>
                  <a:pt x="7851674" y="0"/>
                </a:lnTo>
                <a:lnTo>
                  <a:pt x="7851674" y="3140669"/>
                </a:lnTo>
                <a:lnTo>
                  <a:pt x="0" y="3140669"/>
                </a:lnTo>
                <a:lnTo>
                  <a:pt x="0" y="0"/>
                </a:lnTo>
                <a:close/>
              </a:path>
            </a:pathLst>
          </a:custGeom>
          <a:blipFill>
            <a:blip r:embed="rId3"/>
            <a:stretch>
              <a:fillRect l="0" t="0" r="0" b="0"/>
            </a:stretch>
          </a:blipFill>
        </p:spPr>
      </p:sp>
      <p:sp>
        <p:nvSpPr>
          <p:cNvPr name="TextBox 4" id="4"/>
          <p:cNvSpPr txBox="true"/>
          <p:nvPr/>
        </p:nvSpPr>
        <p:spPr>
          <a:xfrm rot="0">
            <a:off x="371903" y="544517"/>
            <a:ext cx="17795367" cy="2357188"/>
          </a:xfrm>
          <a:prstGeom prst="rect">
            <a:avLst/>
          </a:prstGeom>
        </p:spPr>
        <p:txBody>
          <a:bodyPr anchor="t" rtlCol="false" tIns="0" lIns="0" bIns="0" rIns="0">
            <a:spAutoFit/>
          </a:bodyPr>
          <a:lstStyle/>
          <a:p>
            <a:pPr algn="ctr">
              <a:lnSpc>
                <a:spcPts val="5579"/>
              </a:lnSpc>
            </a:pPr>
            <a:r>
              <a:rPr lang="en-US" b="true" sz="6804">
                <a:solidFill>
                  <a:srgbClr val="F6E5C5"/>
                </a:solidFill>
                <a:latin typeface="Heading Now 71-78 Bold"/>
                <a:ea typeface="Heading Now 71-78 Bold"/>
                <a:cs typeface="Heading Now 71-78 Bold"/>
                <a:sym typeface="Heading Now 71-78 Bold"/>
              </a:rPr>
              <a:t>GROUP</a:t>
            </a:r>
            <a:r>
              <a:rPr lang="en-US" b="true" sz="6804">
                <a:solidFill>
                  <a:srgbClr val="F6E5C5"/>
                </a:solidFill>
                <a:latin typeface="Heading Now 71-78 Bold"/>
                <a:ea typeface="Heading Now 71-78 Bold"/>
                <a:cs typeface="Heading Now 71-78 Bold"/>
                <a:sym typeface="Heading Now 71-78 Bold"/>
              </a:rPr>
              <a:t> THE ORDERS BY DATE AND CALCULATE THE AVERAGE NUMBER OF PIZZAS ORDERED PER DAY.</a:t>
            </a:r>
          </a:p>
        </p:txBody>
      </p:sp>
      <p:sp>
        <p:nvSpPr>
          <p:cNvPr name="Freeform 5" id="5"/>
          <p:cNvSpPr/>
          <p:nvPr/>
        </p:nvSpPr>
        <p:spPr>
          <a:xfrm flipH="false" flipV="false" rot="-1817258">
            <a:off x="1044734" y="8013924"/>
            <a:ext cx="5888553" cy="4261840"/>
          </a:xfrm>
          <a:custGeom>
            <a:avLst/>
            <a:gdLst/>
            <a:ahLst/>
            <a:cxnLst/>
            <a:rect r="r" b="b" t="t" l="l"/>
            <a:pathLst>
              <a:path h="4261840" w="5888553">
                <a:moveTo>
                  <a:pt x="0" y="0"/>
                </a:moveTo>
                <a:lnTo>
                  <a:pt x="5888552" y="0"/>
                </a:lnTo>
                <a:lnTo>
                  <a:pt x="5888552" y="4261840"/>
                </a:lnTo>
                <a:lnTo>
                  <a:pt x="0" y="4261840"/>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78761" y="2736277"/>
            <a:ext cx="10202810" cy="4122348"/>
          </a:xfrm>
          <a:custGeom>
            <a:avLst/>
            <a:gdLst/>
            <a:ahLst/>
            <a:cxnLst/>
            <a:rect r="r" b="b" t="t" l="l"/>
            <a:pathLst>
              <a:path h="4122348" w="10202810">
                <a:moveTo>
                  <a:pt x="0" y="0"/>
                </a:moveTo>
                <a:lnTo>
                  <a:pt x="10202810" y="0"/>
                </a:lnTo>
                <a:lnTo>
                  <a:pt x="10202810" y="4122348"/>
                </a:lnTo>
                <a:lnTo>
                  <a:pt x="0" y="4122348"/>
                </a:lnTo>
                <a:lnTo>
                  <a:pt x="0" y="0"/>
                </a:lnTo>
                <a:close/>
              </a:path>
            </a:pathLst>
          </a:custGeom>
          <a:blipFill>
            <a:blip r:embed="rId2"/>
            <a:stretch>
              <a:fillRect l="0" t="0" r="0" b="0"/>
            </a:stretch>
          </a:blipFill>
        </p:spPr>
      </p:sp>
      <p:sp>
        <p:nvSpPr>
          <p:cNvPr name="Freeform 3" id="3"/>
          <p:cNvSpPr/>
          <p:nvPr/>
        </p:nvSpPr>
        <p:spPr>
          <a:xfrm flipH="false" flipV="false" rot="0">
            <a:off x="9995136" y="6944350"/>
            <a:ext cx="7561998" cy="3275845"/>
          </a:xfrm>
          <a:custGeom>
            <a:avLst/>
            <a:gdLst/>
            <a:ahLst/>
            <a:cxnLst/>
            <a:rect r="r" b="b" t="t" l="l"/>
            <a:pathLst>
              <a:path h="3275845" w="7561998">
                <a:moveTo>
                  <a:pt x="0" y="0"/>
                </a:moveTo>
                <a:lnTo>
                  <a:pt x="7561998" y="0"/>
                </a:lnTo>
                <a:lnTo>
                  <a:pt x="7561998" y="3275845"/>
                </a:lnTo>
                <a:lnTo>
                  <a:pt x="0" y="3275845"/>
                </a:lnTo>
                <a:lnTo>
                  <a:pt x="0" y="0"/>
                </a:lnTo>
                <a:close/>
              </a:path>
            </a:pathLst>
          </a:custGeom>
          <a:blipFill>
            <a:blip r:embed="rId3"/>
            <a:stretch>
              <a:fillRect l="0" t="0" r="0" b="0"/>
            </a:stretch>
          </a:blipFill>
        </p:spPr>
      </p:sp>
      <p:sp>
        <p:nvSpPr>
          <p:cNvPr name="TextBox 4" id="4"/>
          <p:cNvSpPr txBox="true"/>
          <p:nvPr/>
        </p:nvSpPr>
        <p:spPr>
          <a:xfrm rot="0">
            <a:off x="146584" y="292845"/>
            <a:ext cx="18141416" cy="2357188"/>
          </a:xfrm>
          <a:prstGeom prst="rect">
            <a:avLst/>
          </a:prstGeom>
        </p:spPr>
        <p:txBody>
          <a:bodyPr anchor="t" rtlCol="false" tIns="0" lIns="0" bIns="0" rIns="0">
            <a:spAutoFit/>
          </a:bodyPr>
          <a:lstStyle/>
          <a:p>
            <a:pPr algn="ctr">
              <a:lnSpc>
                <a:spcPts val="5579"/>
              </a:lnSpc>
            </a:pPr>
            <a:r>
              <a:rPr lang="en-US" b="true" sz="6804">
                <a:solidFill>
                  <a:srgbClr val="E63F02"/>
                </a:solidFill>
                <a:latin typeface="Heading Now 71-78 Bold"/>
                <a:ea typeface="Heading Now 71-78 Bold"/>
                <a:cs typeface="Heading Now 71-78 Bold"/>
                <a:sym typeface="Heading Now 71-78 Bold"/>
              </a:rPr>
              <a:t>DETERMINE THE TOP 3 MOST ORDERED PIZZA TYPES BASED ON REVENUE.</a:t>
            </a:r>
          </a:p>
        </p:txBody>
      </p:sp>
      <p:sp>
        <p:nvSpPr>
          <p:cNvPr name="Freeform 5" id="5"/>
          <p:cNvSpPr/>
          <p:nvPr/>
        </p:nvSpPr>
        <p:spPr>
          <a:xfrm flipH="false" flipV="false" rot="0">
            <a:off x="-3021547" y="7190171"/>
            <a:ext cx="7597149" cy="7459019"/>
          </a:xfrm>
          <a:custGeom>
            <a:avLst/>
            <a:gdLst/>
            <a:ahLst/>
            <a:cxnLst/>
            <a:rect r="r" b="b" t="t" l="l"/>
            <a:pathLst>
              <a:path h="7459019" w="7597149">
                <a:moveTo>
                  <a:pt x="0" y="0"/>
                </a:moveTo>
                <a:lnTo>
                  <a:pt x="7597150" y="0"/>
                </a:lnTo>
                <a:lnTo>
                  <a:pt x="7597150" y="7459019"/>
                </a:lnTo>
                <a:lnTo>
                  <a:pt x="0" y="7459019"/>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0">
            <a:off x="918594" y="2477821"/>
            <a:ext cx="6766988" cy="7622812"/>
          </a:xfrm>
          <a:custGeom>
            <a:avLst/>
            <a:gdLst/>
            <a:ahLst/>
            <a:cxnLst/>
            <a:rect r="r" b="b" t="t" l="l"/>
            <a:pathLst>
              <a:path h="7622812" w="6766988">
                <a:moveTo>
                  <a:pt x="0" y="0"/>
                </a:moveTo>
                <a:lnTo>
                  <a:pt x="6766987" y="0"/>
                </a:lnTo>
                <a:lnTo>
                  <a:pt x="6766987" y="7622812"/>
                </a:lnTo>
                <a:lnTo>
                  <a:pt x="0" y="7622812"/>
                </a:lnTo>
                <a:lnTo>
                  <a:pt x="0" y="0"/>
                </a:lnTo>
                <a:close/>
              </a:path>
            </a:pathLst>
          </a:custGeom>
          <a:blipFill>
            <a:blip r:embed="rId2"/>
            <a:stretch>
              <a:fillRect l="0" t="0" r="0" b="0"/>
            </a:stretch>
          </a:blipFill>
        </p:spPr>
      </p:sp>
      <p:sp>
        <p:nvSpPr>
          <p:cNvPr name="Freeform 3" id="3"/>
          <p:cNvSpPr/>
          <p:nvPr/>
        </p:nvSpPr>
        <p:spPr>
          <a:xfrm flipH="false" flipV="false" rot="0">
            <a:off x="8366385" y="4720613"/>
            <a:ext cx="8892915" cy="4652312"/>
          </a:xfrm>
          <a:custGeom>
            <a:avLst/>
            <a:gdLst/>
            <a:ahLst/>
            <a:cxnLst/>
            <a:rect r="r" b="b" t="t" l="l"/>
            <a:pathLst>
              <a:path h="4652312" w="8892915">
                <a:moveTo>
                  <a:pt x="0" y="0"/>
                </a:moveTo>
                <a:lnTo>
                  <a:pt x="8892915" y="0"/>
                </a:lnTo>
                <a:lnTo>
                  <a:pt x="8892915" y="4652312"/>
                </a:lnTo>
                <a:lnTo>
                  <a:pt x="0" y="4652312"/>
                </a:lnTo>
                <a:lnTo>
                  <a:pt x="0" y="0"/>
                </a:lnTo>
                <a:close/>
              </a:path>
            </a:pathLst>
          </a:custGeom>
          <a:blipFill>
            <a:blip r:embed="rId3"/>
            <a:stretch>
              <a:fillRect l="0" t="0" r="0" b="0"/>
            </a:stretch>
          </a:blipFill>
        </p:spPr>
      </p:sp>
      <p:sp>
        <p:nvSpPr>
          <p:cNvPr name="TextBox 4" id="4"/>
          <p:cNvSpPr txBox="true"/>
          <p:nvPr/>
        </p:nvSpPr>
        <p:spPr>
          <a:xfrm rot="0">
            <a:off x="119172" y="85725"/>
            <a:ext cx="18049655" cy="2392096"/>
          </a:xfrm>
          <a:prstGeom prst="rect">
            <a:avLst/>
          </a:prstGeom>
        </p:spPr>
        <p:txBody>
          <a:bodyPr anchor="t" rtlCol="false" tIns="0" lIns="0" bIns="0" rIns="0">
            <a:spAutoFit/>
          </a:bodyPr>
          <a:lstStyle/>
          <a:p>
            <a:pPr algn="ctr">
              <a:lnSpc>
                <a:spcPts val="5659"/>
              </a:lnSpc>
            </a:pPr>
            <a:r>
              <a:rPr lang="en-US" b="true" sz="6901">
                <a:solidFill>
                  <a:srgbClr val="F6E5C5"/>
                </a:solidFill>
                <a:latin typeface="Heading Now 71-78 Bold"/>
                <a:ea typeface="Heading Now 71-78 Bold"/>
                <a:cs typeface="Heading Now 71-78 Bold"/>
                <a:sym typeface="Heading Now 71-78 Bold"/>
              </a:rPr>
              <a:t>C</a:t>
            </a:r>
            <a:r>
              <a:rPr lang="en-US" b="true" sz="6901">
                <a:solidFill>
                  <a:srgbClr val="F6E5C5"/>
                </a:solidFill>
                <a:latin typeface="Heading Now 71-78 Bold"/>
                <a:ea typeface="Heading Now 71-78 Bold"/>
                <a:cs typeface="Heading Now 71-78 Bold"/>
                <a:sym typeface="Heading Now 71-78 Bold"/>
              </a:rPr>
              <a:t>ALCULATE THE PERCENTAGE CONTRIBUTION OF EACH PIZZA TYPE TO TOTAL REVENUE.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353623" y="2149666"/>
            <a:ext cx="10009452" cy="7983730"/>
          </a:xfrm>
          <a:custGeom>
            <a:avLst/>
            <a:gdLst/>
            <a:ahLst/>
            <a:cxnLst/>
            <a:rect r="r" b="b" t="t" l="l"/>
            <a:pathLst>
              <a:path h="7983730" w="10009452">
                <a:moveTo>
                  <a:pt x="0" y="0"/>
                </a:moveTo>
                <a:lnTo>
                  <a:pt x="10009452" y="0"/>
                </a:lnTo>
                <a:lnTo>
                  <a:pt x="10009452" y="7983730"/>
                </a:lnTo>
                <a:lnTo>
                  <a:pt x="0" y="7983730"/>
                </a:lnTo>
                <a:lnTo>
                  <a:pt x="0" y="0"/>
                </a:lnTo>
                <a:close/>
              </a:path>
            </a:pathLst>
          </a:custGeom>
          <a:blipFill>
            <a:blip r:embed="rId2"/>
            <a:stretch>
              <a:fillRect l="0" t="0" r="0" b="0"/>
            </a:stretch>
          </a:blipFill>
        </p:spPr>
      </p:sp>
      <p:sp>
        <p:nvSpPr>
          <p:cNvPr name="Freeform 3" id="3"/>
          <p:cNvSpPr/>
          <p:nvPr/>
        </p:nvSpPr>
        <p:spPr>
          <a:xfrm flipH="false" flipV="false" rot="0">
            <a:off x="11419071" y="2149666"/>
            <a:ext cx="5445049" cy="7963949"/>
          </a:xfrm>
          <a:custGeom>
            <a:avLst/>
            <a:gdLst/>
            <a:ahLst/>
            <a:cxnLst/>
            <a:rect r="r" b="b" t="t" l="l"/>
            <a:pathLst>
              <a:path h="7963949" w="5445049">
                <a:moveTo>
                  <a:pt x="0" y="0"/>
                </a:moveTo>
                <a:lnTo>
                  <a:pt x="5445048" y="0"/>
                </a:lnTo>
                <a:lnTo>
                  <a:pt x="5445048" y="7963949"/>
                </a:lnTo>
                <a:lnTo>
                  <a:pt x="0" y="7963949"/>
                </a:lnTo>
                <a:lnTo>
                  <a:pt x="0" y="0"/>
                </a:lnTo>
                <a:close/>
              </a:path>
            </a:pathLst>
          </a:custGeom>
          <a:blipFill>
            <a:blip r:embed="rId3"/>
            <a:stretch>
              <a:fillRect l="0" t="0" r="0" b="0"/>
            </a:stretch>
          </a:blipFill>
        </p:spPr>
      </p:sp>
      <p:sp>
        <p:nvSpPr>
          <p:cNvPr name="TextBox 4" id="4"/>
          <p:cNvSpPr txBox="true"/>
          <p:nvPr/>
        </p:nvSpPr>
        <p:spPr>
          <a:xfrm rot="0">
            <a:off x="162314" y="229927"/>
            <a:ext cx="18141416" cy="1652338"/>
          </a:xfrm>
          <a:prstGeom prst="rect">
            <a:avLst/>
          </a:prstGeom>
        </p:spPr>
        <p:txBody>
          <a:bodyPr anchor="t" rtlCol="false" tIns="0" lIns="0" bIns="0" rIns="0">
            <a:spAutoFit/>
          </a:bodyPr>
          <a:lstStyle/>
          <a:p>
            <a:pPr algn="ctr">
              <a:lnSpc>
                <a:spcPts val="5579"/>
              </a:lnSpc>
            </a:pPr>
            <a:r>
              <a:rPr lang="en-US" b="true" sz="6804">
                <a:solidFill>
                  <a:srgbClr val="E63F02"/>
                </a:solidFill>
                <a:latin typeface="Heading Now 71-78 Bold"/>
                <a:ea typeface="Heading Now 71-78 Bold"/>
                <a:cs typeface="Heading Now 71-78 Bold"/>
                <a:sym typeface="Heading Now 71-78 Bold"/>
              </a:rPr>
              <a:t>ANALYZE THE CUMULATIVE REVENUE GENERATED OVER TIME.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sp>
        <p:nvSpPr>
          <p:cNvPr name="Freeform 2" id="2"/>
          <p:cNvSpPr/>
          <p:nvPr/>
        </p:nvSpPr>
        <p:spPr>
          <a:xfrm flipH="false" flipV="false" rot="0">
            <a:off x="327577" y="2726287"/>
            <a:ext cx="10806243" cy="5306312"/>
          </a:xfrm>
          <a:custGeom>
            <a:avLst/>
            <a:gdLst/>
            <a:ahLst/>
            <a:cxnLst/>
            <a:rect r="r" b="b" t="t" l="l"/>
            <a:pathLst>
              <a:path h="5306312" w="10806243">
                <a:moveTo>
                  <a:pt x="0" y="0"/>
                </a:moveTo>
                <a:lnTo>
                  <a:pt x="10806243" y="0"/>
                </a:lnTo>
                <a:lnTo>
                  <a:pt x="10806243" y="5306311"/>
                </a:lnTo>
                <a:lnTo>
                  <a:pt x="0" y="5306311"/>
                </a:lnTo>
                <a:lnTo>
                  <a:pt x="0" y="0"/>
                </a:lnTo>
                <a:close/>
              </a:path>
            </a:pathLst>
          </a:custGeom>
          <a:blipFill>
            <a:blip r:embed="rId2"/>
            <a:stretch>
              <a:fillRect l="0" t="0" r="-2911" b="0"/>
            </a:stretch>
          </a:blipFill>
        </p:spPr>
      </p:sp>
      <p:sp>
        <p:nvSpPr>
          <p:cNvPr name="Freeform 3" id="3"/>
          <p:cNvSpPr/>
          <p:nvPr/>
        </p:nvSpPr>
        <p:spPr>
          <a:xfrm flipH="false" flipV="false" rot="0">
            <a:off x="11285155" y="3970107"/>
            <a:ext cx="7002845" cy="6133020"/>
          </a:xfrm>
          <a:custGeom>
            <a:avLst/>
            <a:gdLst/>
            <a:ahLst/>
            <a:cxnLst/>
            <a:rect r="r" b="b" t="t" l="l"/>
            <a:pathLst>
              <a:path h="6133020" w="7002845">
                <a:moveTo>
                  <a:pt x="0" y="0"/>
                </a:moveTo>
                <a:lnTo>
                  <a:pt x="7002845" y="0"/>
                </a:lnTo>
                <a:lnTo>
                  <a:pt x="7002845" y="6133021"/>
                </a:lnTo>
                <a:lnTo>
                  <a:pt x="0" y="6133021"/>
                </a:lnTo>
                <a:lnTo>
                  <a:pt x="0" y="0"/>
                </a:lnTo>
                <a:close/>
              </a:path>
            </a:pathLst>
          </a:custGeom>
          <a:blipFill>
            <a:blip r:embed="rId3"/>
            <a:stretch>
              <a:fillRect l="0" t="0" r="0" b="-3158"/>
            </a:stretch>
          </a:blipFill>
        </p:spPr>
      </p:sp>
      <p:sp>
        <p:nvSpPr>
          <p:cNvPr name="TextBox 4" id="4"/>
          <p:cNvSpPr txBox="true"/>
          <p:nvPr/>
        </p:nvSpPr>
        <p:spPr>
          <a:xfrm rot="0">
            <a:off x="940876" y="519581"/>
            <a:ext cx="16406248" cy="2089785"/>
          </a:xfrm>
          <a:prstGeom prst="rect">
            <a:avLst/>
          </a:prstGeom>
        </p:spPr>
        <p:txBody>
          <a:bodyPr anchor="t" rtlCol="false" tIns="0" lIns="0" bIns="0" rIns="0">
            <a:spAutoFit/>
          </a:bodyPr>
          <a:lstStyle/>
          <a:p>
            <a:pPr algn="l">
              <a:lnSpc>
                <a:spcPts val="4920"/>
              </a:lnSpc>
            </a:pPr>
            <a:r>
              <a:rPr lang="en-US" b="true" sz="6000">
                <a:solidFill>
                  <a:srgbClr val="F6E5C5"/>
                </a:solidFill>
                <a:latin typeface="Heading Now 71-78 Bold"/>
                <a:ea typeface="Heading Now 71-78 Bold"/>
                <a:cs typeface="Heading Now 71-78 Bold"/>
                <a:sym typeface="Heading Now 71-78 Bold"/>
              </a:rPr>
              <a:t>DETERMINE THE TOP 3 MOST ORDERED PIZZA TYPES BASED ON REVENUE FOR EACH PIZZA  CATEGORY.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E5C5"/>
        </a:solidFill>
      </p:bgPr>
    </p:bg>
    <p:spTree>
      <p:nvGrpSpPr>
        <p:cNvPr id="1" name=""/>
        <p:cNvGrpSpPr/>
        <p:nvPr/>
      </p:nvGrpSpPr>
      <p:grpSpPr>
        <a:xfrm>
          <a:off x="0" y="0"/>
          <a:ext cx="0" cy="0"/>
          <a:chOff x="0" y="0"/>
          <a:chExt cx="0" cy="0"/>
        </a:xfrm>
      </p:grpSpPr>
      <p:sp>
        <p:nvSpPr>
          <p:cNvPr name="Freeform 2" id="2"/>
          <p:cNvSpPr/>
          <p:nvPr/>
        </p:nvSpPr>
        <p:spPr>
          <a:xfrm flipH="false" flipV="false" rot="0">
            <a:off x="640033" y="7265522"/>
            <a:ext cx="535976" cy="535976"/>
          </a:xfrm>
          <a:custGeom>
            <a:avLst/>
            <a:gdLst/>
            <a:ahLst/>
            <a:cxnLst/>
            <a:rect r="r" b="b" t="t" l="l"/>
            <a:pathLst>
              <a:path h="535976" w="535976">
                <a:moveTo>
                  <a:pt x="0" y="0"/>
                </a:moveTo>
                <a:lnTo>
                  <a:pt x="535977" y="0"/>
                </a:lnTo>
                <a:lnTo>
                  <a:pt x="535977" y="535976"/>
                </a:lnTo>
                <a:lnTo>
                  <a:pt x="0" y="5359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1789519" y="3041661"/>
            <a:ext cx="13217175" cy="5320307"/>
            <a:chOff x="0" y="0"/>
            <a:chExt cx="919975" cy="370318"/>
          </a:xfrm>
        </p:grpSpPr>
        <p:sp>
          <p:nvSpPr>
            <p:cNvPr name="Freeform 4" id="4"/>
            <p:cNvSpPr/>
            <p:nvPr/>
          </p:nvSpPr>
          <p:spPr>
            <a:xfrm flipH="false" flipV="false" rot="0">
              <a:off x="0" y="0"/>
              <a:ext cx="919975" cy="370318"/>
            </a:xfrm>
            <a:custGeom>
              <a:avLst/>
              <a:gdLst/>
              <a:ahLst/>
              <a:cxnLst/>
              <a:rect r="r" b="b" t="t" l="l"/>
              <a:pathLst>
                <a:path h="370318" w="919975">
                  <a:moveTo>
                    <a:pt x="112205" y="0"/>
                  </a:moveTo>
                  <a:lnTo>
                    <a:pt x="807771" y="0"/>
                  </a:lnTo>
                  <a:cubicBezTo>
                    <a:pt x="869740" y="0"/>
                    <a:pt x="919975" y="50236"/>
                    <a:pt x="919975" y="112205"/>
                  </a:cubicBezTo>
                  <a:lnTo>
                    <a:pt x="919975" y="258113"/>
                  </a:lnTo>
                  <a:cubicBezTo>
                    <a:pt x="919975" y="320082"/>
                    <a:pt x="869740" y="370318"/>
                    <a:pt x="807771" y="370318"/>
                  </a:cubicBezTo>
                  <a:lnTo>
                    <a:pt x="112205" y="370318"/>
                  </a:lnTo>
                  <a:cubicBezTo>
                    <a:pt x="50236" y="370318"/>
                    <a:pt x="0" y="320082"/>
                    <a:pt x="0" y="258113"/>
                  </a:cubicBezTo>
                  <a:lnTo>
                    <a:pt x="0" y="112205"/>
                  </a:lnTo>
                  <a:cubicBezTo>
                    <a:pt x="0" y="50236"/>
                    <a:pt x="50236" y="0"/>
                    <a:pt x="112205" y="0"/>
                  </a:cubicBezTo>
                  <a:close/>
                </a:path>
              </a:pathLst>
            </a:custGeom>
            <a:solidFill>
              <a:srgbClr val="E63F02"/>
            </a:solidFill>
          </p:spPr>
        </p:sp>
        <p:sp>
          <p:nvSpPr>
            <p:cNvPr name="TextBox 5" id="5"/>
            <p:cNvSpPr txBox="true"/>
            <p:nvPr/>
          </p:nvSpPr>
          <p:spPr>
            <a:xfrm>
              <a:off x="0" y="-57150"/>
              <a:ext cx="919975" cy="4274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879611" y="1940846"/>
            <a:ext cx="7597149" cy="7459019"/>
          </a:xfrm>
          <a:custGeom>
            <a:avLst/>
            <a:gdLst/>
            <a:ahLst/>
            <a:cxnLst/>
            <a:rect r="r" b="b" t="t" l="l"/>
            <a:pathLst>
              <a:path h="7459019" w="7597149">
                <a:moveTo>
                  <a:pt x="0" y="0"/>
                </a:moveTo>
                <a:lnTo>
                  <a:pt x="7597150" y="0"/>
                </a:lnTo>
                <a:lnTo>
                  <a:pt x="7597150" y="7459019"/>
                </a:lnTo>
                <a:lnTo>
                  <a:pt x="0" y="7459019"/>
                </a:lnTo>
                <a:lnTo>
                  <a:pt x="0" y="0"/>
                </a:lnTo>
                <a:close/>
              </a:path>
            </a:pathLst>
          </a:custGeom>
          <a:blipFill>
            <a:blip r:embed="rId4"/>
            <a:stretch>
              <a:fillRect l="0" t="0" r="0" b="0"/>
            </a:stretch>
          </a:blipFill>
        </p:spPr>
      </p:sp>
      <p:sp>
        <p:nvSpPr>
          <p:cNvPr name="Freeform 7" id="7"/>
          <p:cNvSpPr/>
          <p:nvPr/>
        </p:nvSpPr>
        <p:spPr>
          <a:xfrm flipH="false" flipV="false" rot="0">
            <a:off x="677526" y="5773053"/>
            <a:ext cx="535976" cy="458260"/>
          </a:xfrm>
          <a:custGeom>
            <a:avLst/>
            <a:gdLst/>
            <a:ahLst/>
            <a:cxnLst/>
            <a:rect r="r" b="b" t="t" l="l"/>
            <a:pathLst>
              <a:path h="458260" w="535976">
                <a:moveTo>
                  <a:pt x="0" y="0"/>
                </a:moveTo>
                <a:lnTo>
                  <a:pt x="535976" y="0"/>
                </a:lnTo>
                <a:lnTo>
                  <a:pt x="535976" y="458260"/>
                </a:lnTo>
                <a:lnTo>
                  <a:pt x="0" y="458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640033" y="6402763"/>
            <a:ext cx="573469" cy="573469"/>
          </a:xfrm>
          <a:custGeom>
            <a:avLst/>
            <a:gdLst/>
            <a:ahLst/>
            <a:cxnLst/>
            <a:rect r="r" b="b" t="t" l="l"/>
            <a:pathLst>
              <a:path h="573469" w="573469">
                <a:moveTo>
                  <a:pt x="0" y="0"/>
                </a:moveTo>
                <a:lnTo>
                  <a:pt x="573469" y="0"/>
                </a:lnTo>
                <a:lnTo>
                  <a:pt x="573469" y="573468"/>
                </a:lnTo>
                <a:lnTo>
                  <a:pt x="0" y="573468"/>
                </a:lnTo>
                <a:lnTo>
                  <a:pt x="0" y="0"/>
                </a:lnTo>
                <a:close/>
              </a:path>
            </a:pathLst>
          </a:custGeom>
          <a:blipFill>
            <a:blip r:embed="rId7"/>
            <a:stretch>
              <a:fillRect l="0" t="0" r="0" b="0"/>
            </a:stretch>
          </a:blipFill>
        </p:spPr>
      </p:sp>
      <p:sp>
        <p:nvSpPr>
          <p:cNvPr name="TextBox 9" id="9"/>
          <p:cNvSpPr txBox="true"/>
          <p:nvPr/>
        </p:nvSpPr>
        <p:spPr>
          <a:xfrm rot="0">
            <a:off x="-160892" y="3220220"/>
            <a:ext cx="8168117" cy="2306321"/>
          </a:xfrm>
          <a:prstGeom prst="rect">
            <a:avLst/>
          </a:prstGeom>
        </p:spPr>
        <p:txBody>
          <a:bodyPr anchor="t" rtlCol="false" tIns="0" lIns="0" bIns="0" rIns="0">
            <a:spAutoFit/>
          </a:bodyPr>
          <a:lstStyle/>
          <a:p>
            <a:pPr algn="ctr">
              <a:lnSpc>
                <a:spcPts val="7790"/>
              </a:lnSpc>
            </a:pPr>
            <a:r>
              <a:rPr lang="en-US" b="true" sz="9500">
                <a:solidFill>
                  <a:srgbClr val="E63F02"/>
                </a:solidFill>
                <a:latin typeface="Heading Now 71-78 Bold"/>
                <a:ea typeface="Heading Now 71-78 Bold"/>
                <a:cs typeface="Heading Now 71-78 Bold"/>
                <a:sym typeface="Heading Now 71-78 Bold"/>
              </a:rPr>
              <a:t>CONNECT WITH ME</a:t>
            </a:r>
          </a:p>
        </p:txBody>
      </p:sp>
      <p:sp>
        <p:nvSpPr>
          <p:cNvPr name="TextBox 10" id="10"/>
          <p:cNvSpPr txBox="true"/>
          <p:nvPr/>
        </p:nvSpPr>
        <p:spPr>
          <a:xfrm rot="0">
            <a:off x="1332799" y="5895652"/>
            <a:ext cx="7099123" cy="335661"/>
          </a:xfrm>
          <a:prstGeom prst="rect">
            <a:avLst/>
          </a:prstGeom>
        </p:spPr>
        <p:txBody>
          <a:bodyPr anchor="t" rtlCol="false" tIns="0" lIns="0" bIns="0" rIns="0">
            <a:spAutoFit/>
          </a:bodyPr>
          <a:lstStyle/>
          <a:p>
            <a:pPr algn="l" marL="0" indent="0" lvl="0">
              <a:lnSpc>
                <a:spcPts val="2771"/>
              </a:lnSpc>
              <a:spcBef>
                <a:spcPct val="0"/>
              </a:spcBef>
            </a:pPr>
            <a:r>
              <a:rPr lang="en-US" sz="2199" spc="-52">
                <a:solidFill>
                  <a:srgbClr val="E63F02"/>
                </a:solidFill>
                <a:latin typeface="Body Text"/>
                <a:ea typeface="Body Text"/>
                <a:cs typeface="Body Text"/>
                <a:sym typeface="Body Text"/>
              </a:rPr>
              <a:t>https://www.linkedin.com/in/krishna-das-07b3b9244/</a:t>
            </a:r>
          </a:p>
        </p:txBody>
      </p:sp>
      <p:sp>
        <p:nvSpPr>
          <p:cNvPr name="TextBox 11" id="11"/>
          <p:cNvSpPr txBox="true"/>
          <p:nvPr/>
        </p:nvSpPr>
        <p:spPr>
          <a:xfrm rot="0">
            <a:off x="1505823" y="6567325"/>
            <a:ext cx="4014765" cy="335661"/>
          </a:xfrm>
          <a:prstGeom prst="rect">
            <a:avLst/>
          </a:prstGeom>
        </p:spPr>
        <p:txBody>
          <a:bodyPr anchor="t" rtlCol="false" tIns="0" lIns="0" bIns="0" rIns="0">
            <a:spAutoFit/>
          </a:bodyPr>
          <a:lstStyle/>
          <a:p>
            <a:pPr algn="l" marL="0" indent="0" lvl="0">
              <a:lnSpc>
                <a:spcPts val="2771"/>
              </a:lnSpc>
              <a:spcBef>
                <a:spcPct val="0"/>
              </a:spcBef>
            </a:pPr>
            <a:r>
              <a:rPr lang="en-US" sz="2199" spc="-52">
                <a:solidFill>
                  <a:srgbClr val="E63F02"/>
                </a:solidFill>
                <a:latin typeface="Body Text"/>
                <a:ea typeface="Body Text"/>
                <a:cs typeface="Body Text"/>
                <a:sym typeface="Body Text"/>
              </a:rPr>
              <a:t>https://github.com/Krishna17201</a:t>
            </a:r>
          </a:p>
        </p:txBody>
      </p:sp>
      <p:sp>
        <p:nvSpPr>
          <p:cNvPr name="TextBox 12" id="12"/>
          <p:cNvSpPr txBox="true"/>
          <p:nvPr/>
        </p:nvSpPr>
        <p:spPr>
          <a:xfrm rot="0">
            <a:off x="1505823" y="7360917"/>
            <a:ext cx="3855652" cy="335661"/>
          </a:xfrm>
          <a:prstGeom prst="rect">
            <a:avLst/>
          </a:prstGeom>
        </p:spPr>
        <p:txBody>
          <a:bodyPr anchor="t" rtlCol="false" tIns="0" lIns="0" bIns="0" rIns="0">
            <a:spAutoFit/>
          </a:bodyPr>
          <a:lstStyle/>
          <a:p>
            <a:pPr algn="l" marL="0" indent="0" lvl="0">
              <a:lnSpc>
                <a:spcPts val="2771"/>
              </a:lnSpc>
              <a:spcBef>
                <a:spcPct val="0"/>
              </a:spcBef>
            </a:pPr>
            <a:r>
              <a:rPr lang="en-US" sz="2199" spc="-52">
                <a:solidFill>
                  <a:srgbClr val="E63F02"/>
                </a:solidFill>
                <a:latin typeface="Body Text"/>
                <a:ea typeface="Body Text"/>
                <a:cs typeface="Body Text"/>
                <a:sym typeface="Body Text"/>
              </a:rPr>
              <a:t>das360497@gmail.com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63F02"/>
        </a:solidFill>
      </p:bgPr>
    </p:bg>
    <p:spTree>
      <p:nvGrpSpPr>
        <p:cNvPr id="1" name=""/>
        <p:cNvGrpSpPr/>
        <p:nvPr/>
      </p:nvGrpSpPr>
      <p:grpSpPr>
        <a:xfrm>
          <a:off x="0" y="0"/>
          <a:ext cx="0" cy="0"/>
          <a:chOff x="0" y="0"/>
          <a:chExt cx="0" cy="0"/>
        </a:xfrm>
      </p:grpSpPr>
      <p:grpSp>
        <p:nvGrpSpPr>
          <p:cNvPr name="Group 2" id="2"/>
          <p:cNvGrpSpPr/>
          <p:nvPr/>
        </p:nvGrpSpPr>
        <p:grpSpPr>
          <a:xfrm rot="0">
            <a:off x="3192288" y="3144862"/>
            <a:ext cx="11903423" cy="3997275"/>
            <a:chOff x="0" y="0"/>
            <a:chExt cx="828532" cy="278229"/>
          </a:xfrm>
        </p:grpSpPr>
        <p:sp>
          <p:nvSpPr>
            <p:cNvPr name="Freeform 3" id="3"/>
            <p:cNvSpPr/>
            <p:nvPr/>
          </p:nvSpPr>
          <p:spPr>
            <a:xfrm flipH="false" flipV="false" rot="0">
              <a:off x="0" y="0"/>
              <a:ext cx="828532" cy="278229"/>
            </a:xfrm>
            <a:custGeom>
              <a:avLst/>
              <a:gdLst/>
              <a:ahLst/>
              <a:cxnLst/>
              <a:rect r="r" b="b" t="t" l="l"/>
              <a:pathLst>
                <a:path h="278229" w="828532">
                  <a:moveTo>
                    <a:pt x="57235" y="0"/>
                  </a:moveTo>
                  <a:lnTo>
                    <a:pt x="771298" y="0"/>
                  </a:lnTo>
                  <a:cubicBezTo>
                    <a:pt x="802907" y="0"/>
                    <a:pt x="828532" y="25625"/>
                    <a:pt x="828532" y="57235"/>
                  </a:cubicBezTo>
                  <a:lnTo>
                    <a:pt x="828532" y="220994"/>
                  </a:lnTo>
                  <a:cubicBezTo>
                    <a:pt x="828532" y="236173"/>
                    <a:pt x="822502" y="250731"/>
                    <a:pt x="811769" y="261465"/>
                  </a:cubicBezTo>
                  <a:cubicBezTo>
                    <a:pt x="801035" y="272198"/>
                    <a:pt x="786477" y="278229"/>
                    <a:pt x="771298" y="278229"/>
                  </a:cubicBezTo>
                  <a:lnTo>
                    <a:pt x="57235" y="278229"/>
                  </a:lnTo>
                  <a:cubicBezTo>
                    <a:pt x="42055" y="278229"/>
                    <a:pt x="27497" y="272198"/>
                    <a:pt x="16764" y="261465"/>
                  </a:cubicBezTo>
                  <a:cubicBezTo>
                    <a:pt x="6030" y="250731"/>
                    <a:pt x="0" y="236173"/>
                    <a:pt x="0" y="220994"/>
                  </a:cubicBezTo>
                  <a:lnTo>
                    <a:pt x="0" y="57235"/>
                  </a:lnTo>
                  <a:cubicBezTo>
                    <a:pt x="0" y="42055"/>
                    <a:pt x="6030" y="27497"/>
                    <a:pt x="16764" y="16764"/>
                  </a:cubicBezTo>
                  <a:cubicBezTo>
                    <a:pt x="27497" y="6030"/>
                    <a:pt x="42055" y="0"/>
                    <a:pt x="57235" y="0"/>
                  </a:cubicBezTo>
                  <a:close/>
                </a:path>
              </a:pathLst>
            </a:custGeom>
            <a:solidFill>
              <a:srgbClr val="F6E5C5"/>
            </a:solidFill>
          </p:spPr>
        </p:sp>
        <p:sp>
          <p:nvSpPr>
            <p:cNvPr name="TextBox 4" id="4"/>
            <p:cNvSpPr txBox="true"/>
            <p:nvPr/>
          </p:nvSpPr>
          <p:spPr>
            <a:xfrm>
              <a:off x="0" y="-57150"/>
              <a:ext cx="828532" cy="33537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3192288" y="2715938"/>
            <a:ext cx="11903423" cy="5112299"/>
          </a:xfrm>
          <a:prstGeom prst="rect">
            <a:avLst/>
          </a:prstGeom>
        </p:spPr>
        <p:txBody>
          <a:bodyPr anchor="t" rtlCol="false" tIns="0" lIns="0" bIns="0" rIns="0">
            <a:spAutoFit/>
          </a:bodyPr>
          <a:lstStyle/>
          <a:p>
            <a:pPr algn="ctr">
              <a:lnSpc>
                <a:spcPts val="17193"/>
              </a:lnSpc>
            </a:pPr>
            <a:r>
              <a:rPr lang="en-US" b="true" sz="20968">
                <a:solidFill>
                  <a:srgbClr val="E63F02"/>
                </a:solidFill>
                <a:latin typeface="Heading Now 71-78 Bold"/>
                <a:ea typeface="Heading Now 71-78 Bold"/>
                <a:cs typeface="Heading Now 71-78 Bold"/>
                <a:sym typeface="Heading Now 71-78 Bold"/>
              </a:rPr>
              <a:t>THANK YOU</a:t>
            </a:r>
          </a:p>
        </p:txBody>
      </p:sp>
      <p:sp>
        <p:nvSpPr>
          <p:cNvPr name="Freeform 6" id="6"/>
          <p:cNvSpPr/>
          <p:nvPr/>
        </p:nvSpPr>
        <p:spPr>
          <a:xfrm flipH="false" flipV="false" rot="0">
            <a:off x="1490160" y="5143500"/>
            <a:ext cx="4170206" cy="3780987"/>
          </a:xfrm>
          <a:custGeom>
            <a:avLst/>
            <a:gdLst/>
            <a:ahLst/>
            <a:cxnLst/>
            <a:rect r="r" b="b" t="t" l="l"/>
            <a:pathLst>
              <a:path h="3780987" w="4170206">
                <a:moveTo>
                  <a:pt x="0" y="0"/>
                </a:moveTo>
                <a:lnTo>
                  <a:pt x="4170206" y="0"/>
                </a:lnTo>
                <a:lnTo>
                  <a:pt x="4170206" y="3780987"/>
                </a:lnTo>
                <a:lnTo>
                  <a:pt x="0" y="3780987"/>
                </a:lnTo>
                <a:lnTo>
                  <a:pt x="0" y="0"/>
                </a:lnTo>
                <a:close/>
              </a:path>
            </a:pathLst>
          </a:custGeom>
          <a:blipFill>
            <a:blip r:embed="rId2"/>
            <a:stretch>
              <a:fillRect l="0" t="0" r="0" b="0"/>
            </a:stretch>
          </a:blipFill>
        </p:spPr>
      </p:sp>
      <p:sp>
        <p:nvSpPr>
          <p:cNvPr name="Freeform 7" id="7"/>
          <p:cNvSpPr/>
          <p:nvPr/>
        </p:nvSpPr>
        <p:spPr>
          <a:xfrm flipH="true" flipV="false" rot="0">
            <a:off x="12380916" y="5143500"/>
            <a:ext cx="4170206" cy="3780987"/>
          </a:xfrm>
          <a:custGeom>
            <a:avLst/>
            <a:gdLst/>
            <a:ahLst/>
            <a:cxnLst/>
            <a:rect r="r" b="b" t="t" l="l"/>
            <a:pathLst>
              <a:path h="3780987" w="4170206">
                <a:moveTo>
                  <a:pt x="4170206" y="0"/>
                </a:moveTo>
                <a:lnTo>
                  <a:pt x="0" y="0"/>
                </a:lnTo>
                <a:lnTo>
                  <a:pt x="0" y="3780987"/>
                </a:lnTo>
                <a:lnTo>
                  <a:pt x="4170206" y="3780987"/>
                </a:lnTo>
                <a:lnTo>
                  <a:pt x="4170206"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DAHXWY_P9bY</dc:identifier>
  <dcterms:modified xsi:type="dcterms:W3CDTF">2011-08-01T06:04:30Z</dcterms:modified>
  <cp:revision>1</cp:revision>
  <dc:title>Orange and Cream Playful Pizza Presentation</dc:title>
</cp:coreProperties>
</file>